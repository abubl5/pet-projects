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7" r:id="rId5"/>
    <p:sldId id="268" r:id="rId6"/>
    <p:sldId id="272" r:id="rId7"/>
    <p:sldId id="270" r:id="rId8"/>
    <p:sldId id="271" r:id="rId9"/>
    <p:sldId id="265" r:id="rId10"/>
    <p:sldId id="273" r:id="rId11"/>
    <p:sldId id="266" r:id="rId12"/>
  </p:sldIdLst>
  <p:sldSz cx="19837400" cy="11163300"/>
  <p:notesSz cx="19837400" cy="111633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>
      <p:cViewPr varScale="1">
        <p:scale>
          <a:sx n="74" d="100"/>
          <a:sy n="74" d="100"/>
        </p:scale>
        <p:origin x="264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9840575" cy="11163300"/>
          </a:xfrm>
          <a:custGeom>
            <a:avLst/>
            <a:gdLst/>
            <a:ahLst/>
            <a:cxnLst/>
            <a:rect l="l" t="t" r="r" b="b"/>
            <a:pathLst>
              <a:path w="19840575" h="11163300">
                <a:moveTo>
                  <a:pt x="19840575" y="0"/>
                </a:moveTo>
                <a:lnTo>
                  <a:pt x="0" y="0"/>
                </a:lnTo>
                <a:lnTo>
                  <a:pt x="0" y="11163300"/>
                </a:lnTo>
                <a:lnTo>
                  <a:pt x="19840575" y="11163300"/>
                </a:lnTo>
                <a:lnTo>
                  <a:pt x="19840575" y="0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38200" y="2496311"/>
            <a:ext cx="15005050" cy="0"/>
          </a:xfrm>
          <a:custGeom>
            <a:avLst/>
            <a:gdLst/>
            <a:ahLst/>
            <a:cxnLst/>
            <a:rect l="l" t="t" r="r" b="b"/>
            <a:pathLst>
              <a:path w="15005050">
                <a:moveTo>
                  <a:pt x="0" y="0"/>
                </a:moveTo>
                <a:lnTo>
                  <a:pt x="15004796" y="0"/>
                </a:lnTo>
              </a:path>
            </a:pathLst>
          </a:custGeom>
          <a:ln w="41286">
            <a:solidFill>
              <a:srgbClr val="E6E6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6268700" y="867028"/>
            <a:ext cx="0" cy="1198880"/>
          </a:xfrm>
          <a:custGeom>
            <a:avLst/>
            <a:gdLst/>
            <a:ahLst/>
            <a:cxnLst/>
            <a:rect l="l" t="t" r="r" b="b"/>
            <a:pathLst>
              <a:path h="1198880">
                <a:moveTo>
                  <a:pt x="0" y="0"/>
                </a:moveTo>
                <a:lnTo>
                  <a:pt x="0" y="1198879"/>
                </a:lnTo>
              </a:path>
            </a:pathLst>
          </a:custGeom>
          <a:ln w="41286">
            <a:solidFill>
              <a:srgbClr val="E6E6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6268700" y="2915539"/>
            <a:ext cx="0" cy="7416165"/>
          </a:xfrm>
          <a:custGeom>
            <a:avLst/>
            <a:gdLst/>
            <a:ahLst/>
            <a:cxnLst/>
            <a:rect l="l" t="t" r="r" b="b"/>
            <a:pathLst>
              <a:path h="7416165">
                <a:moveTo>
                  <a:pt x="0" y="0"/>
                </a:moveTo>
                <a:lnTo>
                  <a:pt x="0" y="7415745"/>
                </a:lnTo>
              </a:path>
            </a:pathLst>
          </a:custGeom>
          <a:ln w="41286">
            <a:solidFill>
              <a:srgbClr val="E6E6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6687800" y="2496311"/>
            <a:ext cx="2314575" cy="0"/>
          </a:xfrm>
          <a:custGeom>
            <a:avLst/>
            <a:gdLst/>
            <a:ahLst/>
            <a:cxnLst/>
            <a:rect l="l" t="t" r="r" b="b"/>
            <a:pathLst>
              <a:path w="2314575">
                <a:moveTo>
                  <a:pt x="0" y="0"/>
                </a:moveTo>
                <a:lnTo>
                  <a:pt x="2314194" y="0"/>
                </a:lnTo>
              </a:path>
            </a:pathLst>
          </a:custGeom>
          <a:ln w="41286">
            <a:solidFill>
              <a:srgbClr val="E6E6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857478"/>
            <a:ext cx="5667375" cy="9908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405" y="4561141"/>
            <a:ext cx="7687945" cy="941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1" i="0">
                <a:solidFill>
                  <a:srgbClr val="F9F9F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976562" y="6251448"/>
            <a:ext cx="13890625" cy="279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F9F9F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1" i="0">
                <a:solidFill>
                  <a:srgbClr val="F9F9F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F9F9F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9840575" cy="11163300"/>
          </a:xfrm>
          <a:custGeom>
            <a:avLst/>
            <a:gdLst/>
            <a:ahLst/>
            <a:cxnLst/>
            <a:rect l="l" t="t" r="r" b="b"/>
            <a:pathLst>
              <a:path w="19840575" h="11163300">
                <a:moveTo>
                  <a:pt x="19840575" y="0"/>
                </a:moveTo>
                <a:lnTo>
                  <a:pt x="0" y="0"/>
                </a:lnTo>
                <a:lnTo>
                  <a:pt x="0" y="11163300"/>
                </a:lnTo>
                <a:lnTo>
                  <a:pt x="19840575" y="11163300"/>
                </a:lnTo>
                <a:lnTo>
                  <a:pt x="19840575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7972425" cy="11163300"/>
          </a:xfrm>
          <a:custGeom>
            <a:avLst/>
            <a:gdLst/>
            <a:ahLst/>
            <a:cxnLst/>
            <a:rect l="l" t="t" r="r" b="b"/>
            <a:pathLst>
              <a:path w="7972425" h="11163300">
                <a:moveTo>
                  <a:pt x="7972425" y="0"/>
                </a:moveTo>
                <a:lnTo>
                  <a:pt x="0" y="0"/>
                </a:lnTo>
                <a:lnTo>
                  <a:pt x="0" y="11163300"/>
                </a:lnTo>
                <a:lnTo>
                  <a:pt x="7972425" y="11163300"/>
                </a:lnTo>
                <a:lnTo>
                  <a:pt x="7972425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025000" y="1986533"/>
            <a:ext cx="914400" cy="915035"/>
          </a:xfrm>
          <a:custGeom>
            <a:avLst/>
            <a:gdLst/>
            <a:ahLst/>
            <a:cxnLst/>
            <a:rect l="l" t="t" r="r" b="b"/>
            <a:pathLst>
              <a:path w="914400" h="915035">
                <a:moveTo>
                  <a:pt x="0" y="457326"/>
                </a:moveTo>
                <a:lnTo>
                  <a:pt x="2359" y="410563"/>
                </a:lnTo>
                <a:lnTo>
                  <a:pt x="9284" y="365151"/>
                </a:lnTo>
                <a:lnTo>
                  <a:pt x="20546" y="321321"/>
                </a:lnTo>
                <a:lnTo>
                  <a:pt x="35915" y="279302"/>
                </a:lnTo>
                <a:lnTo>
                  <a:pt x="55161" y="239325"/>
                </a:lnTo>
                <a:lnTo>
                  <a:pt x="78056" y="201618"/>
                </a:lnTo>
                <a:lnTo>
                  <a:pt x="104370" y="166412"/>
                </a:lnTo>
                <a:lnTo>
                  <a:pt x="133873" y="133937"/>
                </a:lnTo>
                <a:lnTo>
                  <a:pt x="166337" y="104422"/>
                </a:lnTo>
                <a:lnTo>
                  <a:pt x="201531" y="78096"/>
                </a:lnTo>
                <a:lnTo>
                  <a:pt x="239227" y="55191"/>
                </a:lnTo>
                <a:lnTo>
                  <a:pt x="279195" y="35935"/>
                </a:lnTo>
                <a:lnTo>
                  <a:pt x="321206" y="20558"/>
                </a:lnTo>
                <a:lnTo>
                  <a:pt x="365029" y="9290"/>
                </a:lnTo>
                <a:lnTo>
                  <a:pt x="410437" y="2360"/>
                </a:lnTo>
                <a:lnTo>
                  <a:pt x="457200" y="0"/>
                </a:lnTo>
                <a:lnTo>
                  <a:pt x="503941" y="2360"/>
                </a:lnTo>
                <a:lnTo>
                  <a:pt x="549333" y="9290"/>
                </a:lnTo>
                <a:lnTo>
                  <a:pt x="593146" y="20558"/>
                </a:lnTo>
                <a:lnTo>
                  <a:pt x="635150" y="35935"/>
                </a:lnTo>
                <a:lnTo>
                  <a:pt x="675116" y="55191"/>
                </a:lnTo>
                <a:lnTo>
                  <a:pt x="712812" y="78096"/>
                </a:lnTo>
                <a:lnTo>
                  <a:pt x="748009" y="104422"/>
                </a:lnTo>
                <a:lnTo>
                  <a:pt x="780478" y="133937"/>
                </a:lnTo>
                <a:lnTo>
                  <a:pt x="809988" y="166412"/>
                </a:lnTo>
                <a:lnTo>
                  <a:pt x="836309" y="201618"/>
                </a:lnTo>
                <a:lnTo>
                  <a:pt x="859212" y="239325"/>
                </a:lnTo>
                <a:lnTo>
                  <a:pt x="878466" y="279302"/>
                </a:lnTo>
                <a:lnTo>
                  <a:pt x="893842" y="321321"/>
                </a:lnTo>
                <a:lnTo>
                  <a:pt x="905110" y="365151"/>
                </a:lnTo>
                <a:lnTo>
                  <a:pt x="912039" y="410563"/>
                </a:lnTo>
                <a:lnTo>
                  <a:pt x="914400" y="457326"/>
                </a:lnTo>
                <a:lnTo>
                  <a:pt x="912039" y="504090"/>
                </a:lnTo>
                <a:lnTo>
                  <a:pt x="905110" y="549502"/>
                </a:lnTo>
                <a:lnTo>
                  <a:pt x="893842" y="593332"/>
                </a:lnTo>
                <a:lnTo>
                  <a:pt x="878466" y="635351"/>
                </a:lnTo>
                <a:lnTo>
                  <a:pt x="859212" y="675328"/>
                </a:lnTo>
                <a:lnTo>
                  <a:pt x="836309" y="713035"/>
                </a:lnTo>
                <a:lnTo>
                  <a:pt x="809988" y="748241"/>
                </a:lnTo>
                <a:lnTo>
                  <a:pt x="780478" y="780716"/>
                </a:lnTo>
                <a:lnTo>
                  <a:pt x="748009" y="810231"/>
                </a:lnTo>
                <a:lnTo>
                  <a:pt x="712812" y="836557"/>
                </a:lnTo>
                <a:lnTo>
                  <a:pt x="675116" y="859462"/>
                </a:lnTo>
                <a:lnTo>
                  <a:pt x="635150" y="878718"/>
                </a:lnTo>
                <a:lnTo>
                  <a:pt x="593146" y="894095"/>
                </a:lnTo>
                <a:lnTo>
                  <a:pt x="549333" y="905363"/>
                </a:lnTo>
                <a:lnTo>
                  <a:pt x="503941" y="912293"/>
                </a:lnTo>
                <a:lnTo>
                  <a:pt x="457200" y="914654"/>
                </a:lnTo>
                <a:lnTo>
                  <a:pt x="410437" y="912293"/>
                </a:lnTo>
                <a:lnTo>
                  <a:pt x="365029" y="905363"/>
                </a:lnTo>
                <a:lnTo>
                  <a:pt x="321206" y="894095"/>
                </a:lnTo>
                <a:lnTo>
                  <a:pt x="279195" y="878718"/>
                </a:lnTo>
                <a:lnTo>
                  <a:pt x="239227" y="859462"/>
                </a:lnTo>
                <a:lnTo>
                  <a:pt x="201531" y="836557"/>
                </a:lnTo>
                <a:lnTo>
                  <a:pt x="166337" y="810231"/>
                </a:lnTo>
                <a:lnTo>
                  <a:pt x="133873" y="780716"/>
                </a:lnTo>
                <a:lnTo>
                  <a:pt x="104370" y="748241"/>
                </a:lnTo>
                <a:lnTo>
                  <a:pt x="78056" y="713035"/>
                </a:lnTo>
                <a:lnTo>
                  <a:pt x="55161" y="675328"/>
                </a:lnTo>
                <a:lnTo>
                  <a:pt x="35915" y="635351"/>
                </a:lnTo>
                <a:lnTo>
                  <a:pt x="20546" y="593332"/>
                </a:lnTo>
                <a:lnTo>
                  <a:pt x="9284" y="549502"/>
                </a:lnTo>
                <a:lnTo>
                  <a:pt x="2359" y="504090"/>
                </a:lnTo>
                <a:lnTo>
                  <a:pt x="0" y="457326"/>
                </a:lnTo>
                <a:close/>
              </a:path>
            </a:pathLst>
          </a:custGeom>
          <a:ln w="254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231363" y="2250236"/>
            <a:ext cx="492125" cy="378460"/>
          </a:xfrm>
          <a:custGeom>
            <a:avLst/>
            <a:gdLst/>
            <a:ahLst/>
            <a:cxnLst/>
            <a:rect l="l" t="t" r="r" b="b"/>
            <a:pathLst>
              <a:path w="492125" h="378460">
                <a:moveTo>
                  <a:pt x="492125" y="180009"/>
                </a:moveTo>
                <a:lnTo>
                  <a:pt x="491883" y="179768"/>
                </a:lnTo>
                <a:lnTo>
                  <a:pt x="314096" y="0"/>
                </a:lnTo>
                <a:lnTo>
                  <a:pt x="308356" y="0"/>
                </a:lnTo>
                <a:lnTo>
                  <a:pt x="293027" y="15494"/>
                </a:lnTo>
                <a:lnTo>
                  <a:pt x="451739" y="175958"/>
                </a:lnTo>
                <a:lnTo>
                  <a:pt x="0" y="175958"/>
                </a:lnTo>
                <a:lnTo>
                  <a:pt x="0" y="201980"/>
                </a:lnTo>
                <a:lnTo>
                  <a:pt x="451726" y="201980"/>
                </a:lnTo>
                <a:lnTo>
                  <a:pt x="293027" y="362432"/>
                </a:lnTo>
                <a:lnTo>
                  <a:pt x="308356" y="377939"/>
                </a:lnTo>
                <a:lnTo>
                  <a:pt x="314096" y="377939"/>
                </a:lnTo>
                <a:lnTo>
                  <a:pt x="491883" y="198158"/>
                </a:lnTo>
                <a:lnTo>
                  <a:pt x="492125" y="197929"/>
                </a:lnTo>
                <a:lnTo>
                  <a:pt x="492125" y="1800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025000" y="4940172"/>
            <a:ext cx="914400" cy="924560"/>
          </a:xfrm>
          <a:custGeom>
            <a:avLst/>
            <a:gdLst/>
            <a:ahLst/>
            <a:cxnLst/>
            <a:rect l="l" t="t" r="r" b="b"/>
            <a:pathLst>
              <a:path w="914400" h="924560">
                <a:moveTo>
                  <a:pt x="0" y="462025"/>
                </a:moveTo>
                <a:lnTo>
                  <a:pt x="2359" y="414790"/>
                </a:lnTo>
                <a:lnTo>
                  <a:pt x="9284" y="368919"/>
                </a:lnTo>
                <a:lnTo>
                  <a:pt x="20546" y="324643"/>
                </a:lnTo>
                <a:lnTo>
                  <a:pt x="35915" y="282195"/>
                </a:lnTo>
                <a:lnTo>
                  <a:pt x="55161" y="241808"/>
                </a:lnTo>
                <a:lnTo>
                  <a:pt x="78056" y="203714"/>
                </a:lnTo>
                <a:lnTo>
                  <a:pt x="104370" y="168145"/>
                </a:lnTo>
                <a:lnTo>
                  <a:pt x="133873" y="135334"/>
                </a:lnTo>
                <a:lnTo>
                  <a:pt x="166337" y="105512"/>
                </a:lnTo>
                <a:lnTo>
                  <a:pt x="201531" y="78913"/>
                </a:lnTo>
                <a:lnTo>
                  <a:pt x="239227" y="55769"/>
                </a:lnTo>
                <a:lnTo>
                  <a:pt x="279195" y="36312"/>
                </a:lnTo>
                <a:lnTo>
                  <a:pt x="321206" y="20774"/>
                </a:lnTo>
                <a:lnTo>
                  <a:pt x="365029" y="9387"/>
                </a:lnTo>
                <a:lnTo>
                  <a:pt x="410437" y="2385"/>
                </a:lnTo>
                <a:lnTo>
                  <a:pt x="457200" y="0"/>
                </a:lnTo>
                <a:lnTo>
                  <a:pt x="503941" y="2385"/>
                </a:lnTo>
                <a:lnTo>
                  <a:pt x="549333" y="9387"/>
                </a:lnTo>
                <a:lnTo>
                  <a:pt x="593146" y="20774"/>
                </a:lnTo>
                <a:lnTo>
                  <a:pt x="635150" y="36312"/>
                </a:lnTo>
                <a:lnTo>
                  <a:pt x="675116" y="55769"/>
                </a:lnTo>
                <a:lnTo>
                  <a:pt x="712812" y="78913"/>
                </a:lnTo>
                <a:lnTo>
                  <a:pt x="748009" y="105512"/>
                </a:lnTo>
                <a:lnTo>
                  <a:pt x="780478" y="135334"/>
                </a:lnTo>
                <a:lnTo>
                  <a:pt x="809988" y="168145"/>
                </a:lnTo>
                <a:lnTo>
                  <a:pt x="836309" y="203714"/>
                </a:lnTo>
                <a:lnTo>
                  <a:pt x="859212" y="241808"/>
                </a:lnTo>
                <a:lnTo>
                  <a:pt x="878466" y="282195"/>
                </a:lnTo>
                <a:lnTo>
                  <a:pt x="893842" y="324643"/>
                </a:lnTo>
                <a:lnTo>
                  <a:pt x="905110" y="368919"/>
                </a:lnTo>
                <a:lnTo>
                  <a:pt x="912039" y="414790"/>
                </a:lnTo>
                <a:lnTo>
                  <a:pt x="914400" y="462025"/>
                </a:lnTo>
                <a:lnTo>
                  <a:pt x="912039" y="509283"/>
                </a:lnTo>
                <a:lnTo>
                  <a:pt x="905110" y="555174"/>
                </a:lnTo>
                <a:lnTo>
                  <a:pt x="893842" y="599467"/>
                </a:lnTo>
                <a:lnTo>
                  <a:pt x="878466" y="641929"/>
                </a:lnTo>
                <a:lnTo>
                  <a:pt x="859212" y="682328"/>
                </a:lnTo>
                <a:lnTo>
                  <a:pt x="836309" y="720433"/>
                </a:lnTo>
                <a:lnTo>
                  <a:pt x="809988" y="756010"/>
                </a:lnTo>
                <a:lnTo>
                  <a:pt x="780478" y="788828"/>
                </a:lnTo>
                <a:lnTo>
                  <a:pt x="748009" y="818655"/>
                </a:lnTo>
                <a:lnTo>
                  <a:pt x="712812" y="845258"/>
                </a:lnTo>
                <a:lnTo>
                  <a:pt x="675116" y="868405"/>
                </a:lnTo>
                <a:lnTo>
                  <a:pt x="635150" y="887864"/>
                </a:lnTo>
                <a:lnTo>
                  <a:pt x="593146" y="903404"/>
                </a:lnTo>
                <a:lnTo>
                  <a:pt x="549333" y="914790"/>
                </a:lnTo>
                <a:lnTo>
                  <a:pt x="503941" y="921793"/>
                </a:lnTo>
                <a:lnTo>
                  <a:pt x="457200" y="924178"/>
                </a:lnTo>
                <a:lnTo>
                  <a:pt x="410437" y="921793"/>
                </a:lnTo>
                <a:lnTo>
                  <a:pt x="365029" y="914790"/>
                </a:lnTo>
                <a:lnTo>
                  <a:pt x="321206" y="903404"/>
                </a:lnTo>
                <a:lnTo>
                  <a:pt x="279195" y="887864"/>
                </a:lnTo>
                <a:lnTo>
                  <a:pt x="239227" y="868405"/>
                </a:lnTo>
                <a:lnTo>
                  <a:pt x="201531" y="845258"/>
                </a:lnTo>
                <a:lnTo>
                  <a:pt x="166337" y="818655"/>
                </a:lnTo>
                <a:lnTo>
                  <a:pt x="133873" y="788828"/>
                </a:lnTo>
                <a:lnTo>
                  <a:pt x="104370" y="756010"/>
                </a:lnTo>
                <a:lnTo>
                  <a:pt x="78056" y="720433"/>
                </a:lnTo>
                <a:lnTo>
                  <a:pt x="55161" y="682328"/>
                </a:lnTo>
                <a:lnTo>
                  <a:pt x="35915" y="641929"/>
                </a:lnTo>
                <a:lnTo>
                  <a:pt x="20546" y="599467"/>
                </a:lnTo>
                <a:lnTo>
                  <a:pt x="9284" y="555174"/>
                </a:lnTo>
                <a:lnTo>
                  <a:pt x="2359" y="509283"/>
                </a:lnTo>
                <a:lnTo>
                  <a:pt x="0" y="462025"/>
                </a:lnTo>
                <a:close/>
              </a:path>
            </a:pathLst>
          </a:custGeom>
          <a:ln w="254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231363" y="5213349"/>
            <a:ext cx="492125" cy="368935"/>
          </a:xfrm>
          <a:custGeom>
            <a:avLst/>
            <a:gdLst/>
            <a:ahLst/>
            <a:cxnLst/>
            <a:rect l="l" t="t" r="r" b="b"/>
            <a:pathLst>
              <a:path w="492125" h="368935">
                <a:moveTo>
                  <a:pt x="492125" y="175514"/>
                </a:moveTo>
                <a:lnTo>
                  <a:pt x="491883" y="175272"/>
                </a:lnTo>
                <a:lnTo>
                  <a:pt x="314096" y="0"/>
                </a:lnTo>
                <a:lnTo>
                  <a:pt x="308356" y="0"/>
                </a:lnTo>
                <a:lnTo>
                  <a:pt x="293027" y="15113"/>
                </a:lnTo>
                <a:lnTo>
                  <a:pt x="451726" y="171564"/>
                </a:lnTo>
                <a:lnTo>
                  <a:pt x="0" y="171564"/>
                </a:lnTo>
                <a:lnTo>
                  <a:pt x="0" y="196938"/>
                </a:lnTo>
                <a:lnTo>
                  <a:pt x="451726" y="196938"/>
                </a:lnTo>
                <a:lnTo>
                  <a:pt x="293027" y="353390"/>
                </a:lnTo>
                <a:lnTo>
                  <a:pt x="308356" y="368503"/>
                </a:lnTo>
                <a:lnTo>
                  <a:pt x="314096" y="368503"/>
                </a:lnTo>
                <a:lnTo>
                  <a:pt x="491883" y="193217"/>
                </a:lnTo>
                <a:lnTo>
                  <a:pt x="492125" y="192989"/>
                </a:lnTo>
                <a:lnTo>
                  <a:pt x="492125" y="1755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9025000" y="7893684"/>
            <a:ext cx="914400" cy="924560"/>
          </a:xfrm>
          <a:custGeom>
            <a:avLst/>
            <a:gdLst/>
            <a:ahLst/>
            <a:cxnLst/>
            <a:rect l="l" t="t" r="r" b="b"/>
            <a:pathLst>
              <a:path w="914400" h="924559">
                <a:moveTo>
                  <a:pt x="0" y="462153"/>
                </a:moveTo>
                <a:lnTo>
                  <a:pt x="2359" y="414895"/>
                </a:lnTo>
                <a:lnTo>
                  <a:pt x="9284" y="369004"/>
                </a:lnTo>
                <a:lnTo>
                  <a:pt x="20546" y="324711"/>
                </a:lnTo>
                <a:lnTo>
                  <a:pt x="35915" y="282249"/>
                </a:lnTo>
                <a:lnTo>
                  <a:pt x="55161" y="241850"/>
                </a:lnTo>
                <a:lnTo>
                  <a:pt x="78056" y="203745"/>
                </a:lnTo>
                <a:lnTo>
                  <a:pt x="104370" y="168168"/>
                </a:lnTo>
                <a:lnTo>
                  <a:pt x="133873" y="135350"/>
                </a:lnTo>
                <a:lnTo>
                  <a:pt x="166337" y="105523"/>
                </a:lnTo>
                <a:lnTo>
                  <a:pt x="201531" y="78920"/>
                </a:lnTo>
                <a:lnTo>
                  <a:pt x="239227" y="55773"/>
                </a:lnTo>
                <a:lnTo>
                  <a:pt x="279195" y="36314"/>
                </a:lnTo>
                <a:lnTo>
                  <a:pt x="321206" y="20774"/>
                </a:lnTo>
                <a:lnTo>
                  <a:pt x="365029" y="9388"/>
                </a:lnTo>
                <a:lnTo>
                  <a:pt x="410437" y="2385"/>
                </a:lnTo>
                <a:lnTo>
                  <a:pt x="457200" y="0"/>
                </a:lnTo>
                <a:lnTo>
                  <a:pt x="503941" y="2385"/>
                </a:lnTo>
                <a:lnTo>
                  <a:pt x="549333" y="9388"/>
                </a:lnTo>
                <a:lnTo>
                  <a:pt x="593146" y="20774"/>
                </a:lnTo>
                <a:lnTo>
                  <a:pt x="635150" y="36314"/>
                </a:lnTo>
                <a:lnTo>
                  <a:pt x="675116" y="55773"/>
                </a:lnTo>
                <a:lnTo>
                  <a:pt x="712812" y="78920"/>
                </a:lnTo>
                <a:lnTo>
                  <a:pt x="748009" y="105523"/>
                </a:lnTo>
                <a:lnTo>
                  <a:pt x="780478" y="135350"/>
                </a:lnTo>
                <a:lnTo>
                  <a:pt x="809988" y="168168"/>
                </a:lnTo>
                <a:lnTo>
                  <a:pt x="836309" y="203745"/>
                </a:lnTo>
                <a:lnTo>
                  <a:pt x="859212" y="241850"/>
                </a:lnTo>
                <a:lnTo>
                  <a:pt x="878466" y="282249"/>
                </a:lnTo>
                <a:lnTo>
                  <a:pt x="893842" y="324711"/>
                </a:lnTo>
                <a:lnTo>
                  <a:pt x="905110" y="369004"/>
                </a:lnTo>
                <a:lnTo>
                  <a:pt x="912039" y="414895"/>
                </a:lnTo>
                <a:lnTo>
                  <a:pt x="914400" y="462153"/>
                </a:lnTo>
                <a:lnTo>
                  <a:pt x="912039" y="509388"/>
                </a:lnTo>
                <a:lnTo>
                  <a:pt x="905110" y="555259"/>
                </a:lnTo>
                <a:lnTo>
                  <a:pt x="893842" y="599535"/>
                </a:lnTo>
                <a:lnTo>
                  <a:pt x="878466" y="641983"/>
                </a:lnTo>
                <a:lnTo>
                  <a:pt x="859212" y="682370"/>
                </a:lnTo>
                <a:lnTo>
                  <a:pt x="836309" y="720464"/>
                </a:lnTo>
                <a:lnTo>
                  <a:pt x="809988" y="756033"/>
                </a:lnTo>
                <a:lnTo>
                  <a:pt x="780478" y="788844"/>
                </a:lnTo>
                <a:lnTo>
                  <a:pt x="748009" y="818666"/>
                </a:lnTo>
                <a:lnTo>
                  <a:pt x="712812" y="845265"/>
                </a:lnTo>
                <a:lnTo>
                  <a:pt x="675116" y="868409"/>
                </a:lnTo>
                <a:lnTo>
                  <a:pt x="635150" y="887866"/>
                </a:lnTo>
                <a:lnTo>
                  <a:pt x="593146" y="903404"/>
                </a:lnTo>
                <a:lnTo>
                  <a:pt x="549333" y="914791"/>
                </a:lnTo>
                <a:lnTo>
                  <a:pt x="503941" y="921793"/>
                </a:lnTo>
                <a:lnTo>
                  <a:pt x="457200" y="924179"/>
                </a:lnTo>
                <a:lnTo>
                  <a:pt x="410437" y="921793"/>
                </a:lnTo>
                <a:lnTo>
                  <a:pt x="365029" y="914791"/>
                </a:lnTo>
                <a:lnTo>
                  <a:pt x="321206" y="903404"/>
                </a:lnTo>
                <a:lnTo>
                  <a:pt x="279195" y="887866"/>
                </a:lnTo>
                <a:lnTo>
                  <a:pt x="239227" y="868409"/>
                </a:lnTo>
                <a:lnTo>
                  <a:pt x="201531" y="845265"/>
                </a:lnTo>
                <a:lnTo>
                  <a:pt x="166337" y="818666"/>
                </a:lnTo>
                <a:lnTo>
                  <a:pt x="133873" y="788844"/>
                </a:lnTo>
                <a:lnTo>
                  <a:pt x="104370" y="756033"/>
                </a:lnTo>
                <a:lnTo>
                  <a:pt x="78056" y="720464"/>
                </a:lnTo>
                <a:lnTo>
                  <a:pt x="55161" y="682370"/>
                </a:lnTo>
                <a:lnTo>
                  <a:pt x="35915" y="641983"/>
                </a:lnTo>
                <a:lnTo>
                  <a:pt x="20546" y="599535"/>
                </a:lnTo>
                <a:lnTo>
                  <a:pt x="9284" y="555259"/>
                </a:lnTo>
                <a:lnTo>
                  <a:pt x="2359" y="509388"/>
                </a:lnTo>
                <a:lnTo>
                  <a:pt x="0" y="462153"/>
                </a:lnTo>
                <a:close/>
              </a:path>
            </a:pathLst>
          </a:custGeom>
          <a:ln w="254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9231363" y="8166861"/>
            <a:ext cx="492125" cy="368935"/>
          </a:xfrm>
          <a:custGeom>
            <a:avLst/>
            <a:gdLst/>
            <a:ahLst/>
            <a:cxnLst/>
            <a:rect l="l" t="t" r="r" b="b"/>
            <a:pathLst>
              <a:path w="492125" h="368934">
                <a:moveTo>
                  <a:pt x="492125" y="175514"/>
                </a:moveTo>
                <a:lnTo>
                  <a:pt x="491883" y="175272"/>
                </a:lnTo>
                <a:lnTo>
                  <a:pt x="314096" y="0"/>
                </a:lnTo>
                <a:lnTo>
                  <a:pt x="308356" y="0"/>
                </a:lnTo>
                <a:lnTo>
                  <a:pt x="293027" y="15113"/>
                </a:lnTo>
                <a:lnTo>
                  <a:pt x="451726" y="171564"/>
                </a:lnTo>
                <a:lnTo>
                  <a:pt x="0" y="171564"/>
                </a:lnTo>
                <a:lnTo>
                  <a:pt x="0" y="196938"/>
                </a:lnTo>
                <a:lnTo>
                  <a:pt x="451726" y="196938"/>
                </a:lnTo>
                <a:lnTo>
                  <a:pt x="293027" y="353390"/>
                </a:lnTo>
                <a:lnTo>
                  <a:pt x="308356" y="368503"/>
                </a:lnTo>
                <a:lnTo>
                  <a:pt x="314096" y="368503"/>
                </a:lnTo>
                <a:lnTo>
                  <a:pt x="491883" y="193217"/>
                </a:lnTo>
                <a:lnTo>
                  <a:pt x="492125" y="192989"/>
                </a:lnTo>
                <a:lnTo>
                  <a:pt x="492125" y="1755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1" i="0">
                <a:solidFill>
                  <a:srgbClr val="F9F9F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92187" y="2567559"/>
            <a:ext cx="8632031" cy="73677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219531" y="2567559"/>
            <a:ext cx="8632031" cy="73677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1" i="0">
                <a:solidFill>
                  <a:srgbClr val="F9F9F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9840575" cy="11163300"/>
          </a:xfrm>
          <a:custGeom>
            <a:avLst/>
            <a:gdLst/>
            <a:ahLst/>
            <a:cxnLst/>
            <a:rect l="l" t="t" r="r" b="b"/>
            <a:pathLst>
              <a:path w="19840575" h="11163300">
                <a:moveTo>
                  <a:pt x="19840575" y="0"/>
                </a:moveTo>
                <a:lnTo>
                  <a:pt x="0" y="0"/>
                </a:lnTo>
                <a:lnTo>
                  <a:pt x="0" y="11163300"/>
                </a:lnTo>
                <a:lnTo>
                  <a:pt x="19840575" y="11163300"/>
                </a:lnTo>
                <a:lnTo>
                  <a:pt x="19840575" y="0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27405" y="291677"/>
            <a:ext cx="16583025" cy="19359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1" i="0">
                <a:solidFill>
                  <a:srgbClr val="F9F9F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8844" y="2553243"/>
            <a:ext cx="12893675" cy="650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F9F9F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746875" y="10381869"/>
            <a:ext cx="6350000" cy="558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92187" y="10381869"/>
            <a:ext cx="4564062" cy="558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287501" y="10381869"/>
            <a:ext cx="4564062" cy="558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827405" y="4561141"/>
            <a:ext cx="8862695" cy="936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0" spc="-35" dirty="0">
                <a:latin typeface="Trebuchet MS"/>
                <a:cs typeface="Trebuchet MS"/>
              </a:rPr>
              <a:t>Кейс</a:t>
            </a:r>
            <a:r>
              <a:rPr sz="6000" spc="-925" dirty="0">
                <a:latin typeface="Trebuchet MS"/>
                <a:cs typeface="Trebuchet MS"/>
              </a:rPr>
              <a:t> </a:t>
            </a:r>
            <a:r>
              <a:rPr sz="6000" spc="-110" dirty="0">
                <a:latin typeface="Trebuchet MS"/>
                <a:cs typeface="Trebuchet MS"/>
              </a:rPr>
              <a:t>“</a:t>
            </a:r>
            <a:r>
              <a:rPr sz="6000" spc="-110" dirty="0" err="1">
                <a:latin typeface="Trebuchet MS"/>
                <a:cs typeface="Trebuchet MS"/>
              </a:rPr>
              <a:t>Золотая</a:t>
            </a:r>
            <a:r>
              <a:rPr sz="6000" spc="-509" dirty="0">
                <a:latin typeface="Trebuchet MS"/>
                <a:cs typeface="Trebuchet MS"/>
              </a:rPr>
              <a:t> </a:t>
            </a:r>
            <a:r>
              <a:rPr sz="6000" spc="-50" dirty="0">
                <a:latin typeface="Trebuchet MS"/>
                <a:cs typeface="Trebuchet MS"/>
              </a:rPr>
              <a:t>жила</a:t>
            </a:r>
            <a:r>
              <a:rPr lang="en-US" sz="6000" spc="-50" dirty="0">
                <a:latin typeface="Trebuchet MS"/>
                <a:cs typeface="Trebuchet MS"/>
              </a:rPr>
              <a:t>-2</a:t>
            </a:r>
            <a:r>
              <a:rPr sz="6000" spc="-50" dirty="0">
                <a:latin typeface="Trebuchet MS"/>
                <a:cs typeface="Trebuchet MS"/>
              </a:rPr>
              <a:t>”</a:t>
            </a:r>
            <a:endParaRPr sz="60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7405" y="6073203"/>
            <a:ext cx="455612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F9F9F9"/>
                </a:solidFill>
                <a:latin typeface="Calibri"/>
                <a:cs typeface="Calibri"/>
              </a:rPr>
              <a:t>Львов</a:t>
            </a:r>
            <a:r>
              <a:rPr sz="3000" spc="-100" dirty="0">
                <a:solidFill>
                  <a:srgbClr val="F9F9F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9F9F9"/>
                </a:solidFill>
                <a:latin typeface="Calibri"/>
                <a:cs typeface="Calibri"/>
              </a:rPr>
              <a:t>Алексей</a:t>
            </a:r>
            <a:r>
              <a:rPr sz="3000" spc="-55" dirty="0">
                <a:solidFill>
                  <a:srgbClr val="F9F9F9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F9F9F9"/>
                </a:solidFill>
                <a:latin typeface="Calibri"/>
                <a:cs typeface="Calibri"/>
              </a:rPr>
              <a:t>Михайлович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6949" rIns="0" bIns="0" rtlCol="0">
            <a:spAutoFit/>
          </a:bodyPr>
          <a:lstStyle/>
          <a:p>
            <a:pPr marL="238125">
              <a:lnSpc>
                <a:spcPct val="100000"/>
              </a:lnSpc>
              <a:spcBef>
                <a:spcPts val="105"/>
              </a:spcBef>
            </a:pPr>
            <a:r>
              <a:rPr sz="6000" dirty="0">
                <a:solidFill>
                  <a:srgbClr val="FFFFFF"/>
                </a:solidFill>
                <a:latin typeface="Trebuchet MS"/>
                <a:cs typeface="Trebuchet MS"/>
              </a:rPr>
              <a:t>Проверка</a:t>
            </a:r>
            <a:r>
              <a:rPr sz="6000" spc="-5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000" spc="60" dirty="0">
                <a:solidFill>
                  <a:srgbClr val="FFFFFF"/>
                </a:solidFill>
                <a:latin typeface="Trebuchet MS"/>
                <a:cs typeface="Trebuchet MS"/>
              </a:rPr>
              <a:t>на</a:t>
            </a:r>
            <a:r>
              <a:rPr sz="6000" spc="-5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000" spc="-50" dirty="0">
                <a:solidFill>
                  <a:srgbClr val="FFFFFF"/>
                </a:solidFill>
                <a:latin typeface="Trebuchet MS"/>
                <a:cs typeface="Trebuchet MS"/>
              </a:rPr>
              <a:t>наличие</a:t>
            </a:r>
            <a:r>
              <a:rPr sz="6000" spc="-509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000" spc="-10" dirty="0">
                <a:solidFill>
                  <a:srgbClr val="FFFFFF"/>
                </a:solidFill>
                <a:latin typeface="Trebuchet MS"/>
                <a:cs typeface="Trebuchet MS"/>
              </a:rPr>
              <a:t>выбросов</a:t>
            </a:r>
            <a:endParaRPr sz="60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025" y="2258060"/>
            <a:ext cx="18735675" cy="76031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3147" y="435292"/>
            <a:ext cx="754570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0" spc="-35" dirty="0">
                <a:solidFill>
                  <a:srgbClr val="FFFFFF"/>
                </a:solidFill>
                <a:latin typeface="Trebuchet MS"/>
                <a:cs typeface="Trebuchet MS"/>
              </a:rPr>
              <a:t>Выбросы</a:t>
            </a:r>
            <a:r>
              <a:rPr sz="6000" spc="-5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000" dirty="0">
                <a:solidFill>
                  <a:srgbClr val="FFFFFF"/>
                </a:solidFill>
                <a:latin typeface="Trebuchet MS"/>
                <a:cs typeface="Trebuchet MS"/>
              </a:rPr>
              <a:t>и</a:t>
            </a:r>
            <a:r>
              <a:rPr sz="6000" spc="-5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000" spc="-10" dirty="0">
                <a:solidFill>
                  <a:srgbClr val="FFFFFF"/>
                </a:solidFill>
                <a:latin typeface="Trebuchet MS"/>
                <a:cs typeface="Trebuchet MS"/>
              </a:rPr>
              <a:t>пропуски</a:t>
            </a:r>
            <a:endParaRPr sz="60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66800" y="2296160"/>
            <a:ext cx="11115675" cy="6707505"/>
            <a:chOff x="1066800" y="2296160"/>
            <a:chExt cx="11115675" cy="67075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800" y="2296160"/>
              <a:ext cx="7981950" cy="670750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72550" y="5821425"/>
              <a:ext cx="3209925" cy="318223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9981818" y="2148522"/>
            <a:ext cx="540385" cy="631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950" spc="-25" dirty="0">
                <a:solidFill>
                  <a:srgbClr val="CACACA"/>
                </a:solidFill>
                <a:latin typeface="Calibri"/>
                <a:cs typeface="Calibri"/>
              </a:rPr>
              <a:t>01</a:t>
            </a:r>
            <a:endParaRPr sz="39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93194" y="2244026"/>
            <a:ext cx="7556500" cy="2645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20520" marR="1732914" indent="189865">
              <a:lnSpc>
                <a:spcPct val="100000"/>
              </a:lnSpc>
              <a:spcBef>
                <a:spcPts val="100"/>
              </a:spcBef>
            </a:pPr>
            <a:r>
              <a:rPr sz="3000" spc="-20" dirty="0">
                <a:solidFill>
                  <a:srgbClr val="FFFFFF"/>
                </a:solidFill>
                <a:latin typeface="Trebuchet MS"/>
                <a:cs typeface="Trebuchet MS"/>
              </a:rPr>
              <a:t>Сортируем</a:t>
            </a:r>
            <a:r>
              <a:rPr sz="3000" spc="-2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spc="-45" dirty="0">
                <a:solidFill>
                  <a:srgbClr val="FFFFFF"/>
                </a:solidFill>
                <a:latin typeface="Trebuchet MS"/>
                <a:cs typeface="Trebuchet MS"/>
              </a:rPr>
              <a:t>датасет</a:t>
            </a:r>
            <a:r>
              <a:rPr sz="3000" spc="-2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Trebuchet MS"/>
                <a:cs typeface="Trebuchet MS"/>
              </a:rPr>
              <a:t>по </a:t>
            </a:r>
            <a:r>
              <a:rPr sz="3000" spc="-10" dirty="0">
                <a:solidFill>
                  <a:srgbClr val="FFFFFF"/>
                </a:solidFill>
                <a:latin typeface="Trebuchet MS"/>
                <a:cs typeface="Trebuchet MS"/>
              </a:rPr>
              <a:t>возрастанию/убыванию</a:t>
            </a:r>
            <a:endParaRPr sz="300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2620"/>
              </a:spcBef>
            </a:pPr>
            <a:r>
              <a:rPr sz="3000" spc="-30" dirty="0">
                <a:solidFill>
                  <a:srgbClr val="FFFFFF"/>
                </a:solidFill>
                <a:latin typeface="Trebuchet MS"/>
                <a:cs typeface="Trebuchet MS"/>
              </a:rPr>
              <a:t>Убираем</a:t>
            </a:r>
            <a:r>
              <a:rPr sz="3000" spc="-2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spc="-30" dirty="0">
                <a:solidFill>
                  <a:srgbClr val="FFFFFF"/>
                </a:solidFill>
                <a:latin typeface="Trebuchet MS"/>
                <a:cs typeface="Trebuchet MS"/>
              </a:rPr>
              <a:t>единичные</a:t>
            </a:r>
            <a:r>
              <a:rPr sz="3000" spc="-2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Trebuchet MS"/>
                <a:cs typeface="Trebuchet MS"/>
              </a:rPr>
              <a:t>выбросы</a:t>
            </a:r>
            <a:r>
              <a:rPr sz="3000" spc="-2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spc="-50" dirty="0">
                <a:solidFill>
                  <a:srgbClr val="FFFFFF"/>
                </a:solidFill>
                <a:latin typeface="Trebuchet MS"/>
                <a:cs typeface="Trebuchet MS"/>
              </a:rPr>
              <a:t>в</a:t>
            </a:r>
            <a:endParaRPr sz="3000" dirty="0">
              <a:latin typeface="Trebuchet MS"/>
              <a:cs typeface="Trebuchet MS"/>
            </a:endParaRPr>
          </a:p>
          <a:p>
            <a:pPr marL="12700" marR="5080" algn="ctr">
              <a:lnSpc>
                <a:spcPct val="100000"/>
              </a:lnSpc>
            </a:pPr>
            <a:r>
              <a:rPr sz="3000" dirty="0">
                <a:solidFill>
                  <a:srgbClr val="FFFFFF"/>
                </a:solidFill>
                <a:latin typeface="Trebuchet MS"/>
                <a:cs typeface="Trebuchet MS"/>
              </a:rPr>
              <a:t>колонках</a:t>
            </a:r>
            <a:r>
              <a:rPr sz="3000" spc="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Trebuchet MS"/>
                <a:cs typeface="Trebuchet MS"/>
              </a:rPr>
              <a:t>’Costs’</a:t>
            </a:r>
            <a:r>
              <a:rPr sz="3000" spc="-459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FFFFFF"/>
                </a:solidFill>
                <a:latin typeface="Trebuchet MS"/>
                <a:cs typeface="Trebuchet MS"/>
              </a:rPr>
              <a:t>и</a:t>
            </a:r>
            <a:r>
              <a:rPr sz="3000" spc="-2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spc="-90" dirty="0">
                <a:solidFill>
                  <a:srgbClr val="FFFFFF"/>
                </a:solidFill>
                <a:latin typeface="Trebuchet MS"/>
                <a:cs typeface="Trebuchet MS"/>
              </a:rPr>
              <a:t>’Payments’</a:t>
            </a:r>
            <a:r>
              <a:rPr sz="3000" spc="-4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FFFFFF"/>
                </a:solidFill>
                <a:latin typeface="Trebuchet MS"/>
                <a:cs typeface="Trebuchet MS"/>
              </a:rPr>
              <a:t>на</a:t>
            </a:r>
            <a:r>
              <a:rPr sz="3000" spc="-3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Trebuchet MS"/>
                <a:cs typeface="Trebuchet MS"/>
              </a:rPr>
              <a:t>основании </a:t>
            </a:r>
            <a:r>
              <a:rPr sz="3000" spc="-20" dirty="0">
                <a:solidFill>
                  <a:srgbClr val="FFFFFF"/>
                </a:solidFill>
                <a:latin typeface="Trebuchet MS"/>
                <a:cs typeface="Trebuchet MS"/>
              </a:rPr>
              <a:t>ближайших</a:t>
            </a:r>
            <a:r>
              <a:rPr sz="3000" spc="-2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spc="-100" dirty="0">
                <a:solidFill>
                  <a:srgbClr val="FFFFFF"/>
                </a:solidFill>
                <a:latin typeface="Trebuchet MS"/>
                <a:cs typeface="Trebuchet MS"/>
              </a:rPr>
              <a:t>к</a:t>
            </a:r>
            <a:r>
              <a:rPr sz="3000" spc="-2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spc="-45" dirty="0">
                <a:solidFill>
                  <a:srgbClr val="FFFFFF"/>
                </a:solidFill>
                <a:latin typeface="Trebuchet MS"/>
                <a:cs typeface="Trebuchet MS"/>
              </a:rPr>
              <a:t>ним</a:t>
            </a:r>
            <a:r>
              <a:rPr sz="3000" spc="-2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spc="-100" dirty="0">
                <a:solidFill>
                  <a:srgbClr val="FFFFFF"/>
                </a:solidFill>
                <a:latin typeface="Trebuchet MS"/>
                <a:cs typeface="Trebuchet MS"/>
              </a:rPr>
              <a:t>10-</a:t>
            </a:r>
            <a:r>
              <a:rPr sz="3000" dirty="0">
                <a:solidFill>
                  <a:srgbClr val="FFFFFF"/>
                </a:solidFill>
                <a:latin typeface="Trebuchet MS"/>
                <a:cs typeface="Trebuchet MS"/>
              </a:rPr>
              <a:t>15</a:t>
            </a:r>
            <a:r>
              <a:rPr sz="3000" spc="-229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Trebuchet MS"/>
                <a:cs typeface="Trebuchet MS"/>
              </a:rPr>
              <a:t>значений</a:t>
            </a:r>
            <a:endParaRPr sz="300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81818" y="3439159"/>
            <a:ext cx="540385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spc="-25" dirty="0">
                <a:solidFill>
                  <a:srgbClr val="CACACA"/>
                </a:solidFill>
                <a:latin typeface="Calibri"/>
                <a:cs typeface="Calibri"/>
              </a:rPr>
              <a:t>02</a:t>
            </a:r>
            <a:endParaRPr sz="395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768326" y="5264022"/>
            <a:ext cx="5210175" cy="5173980"/>
            <a:chOff x="12768326" y="5264022"/>
            <a:chExt cx="5210175" cy="5173980"/>
          </a:xfrm>
        </p:grpSpPr>
        <p:sp>
          <p:nvSpPr>
            <p:cNvPr id="10" name="object 10"/>
            <p:cNvSpPr/>
            <p:nvPr/>
          </p:nvSpPr>
          <p:spPr>
            <a:xfrm>
              <a:off x="12768326" y="5264022"/>
              <a:ext cx="5210175" cy="5173980"/>
            </a:xfrm>
            <a:custGeom>
              <a:avLst/>
              <a:gdLst/>
              <a:ahLst/>
              <a:cxnLst/>
              <a:rect l="l" t="t" r="r" b="b"/>
              <a:pathLst>
                <a:path w="5210175" h="5173980">
                  <a:moveTo>
                    <a:pt x="1359916" y="2353437"/>
                  </a:moveTo>
                  <a:lnTo>
                    <a:pt x="1326351" y="2405417"/>
                  </a:lnTo>
                  <a:lnTo>
                    <a:pt x="1294186" y="2457441"/>
                  </a:lnTo>
                  <a:lnTo>
                    <a:pt x="1263430" y="2509469"/>
                  </a:lnTo>
                  <a:lnTo>
                    <a:pt x="1234096" y="2561462"/>
                  </a:lnTo>
                  <a:lnTo>
                    <a:pt x="1206196" y="2613379"/>
                  </a:lnTo>
                  <a:lnTo>
                    <a:pt x="1179740" y="2665183"/>
                  </a:lnTo>
                  <a:lnTo>
                    <a:pt x="1154740" y="2716834"/>
                  </a:lnTo>
                  <a:lnTo>
                    <a:pt x="1131207" y="2768291"/>
                  </a:lnTo>
                  <a:lnTo>
                    <a:pt x="1109153" y="2819518"/>
                  </a:lnTo>
                  <a:lnTo>
                    <a:pt x="1088590" y="2870473"/>
                  </a:lnTo>
                  <a:lnTo>
                    <a:pt x="1069528" y="2921118"/>
                  </a:lnTo>
                  <a:lnTo>
                    <a:pt x="1051979" y="2971413"/>
                  </a:lnTo>
                  <a:lnTo>
                    <a:pt x="1035955" y="3021320"/>
                  </a:lnTo>
                  <a:lnTo>
                    <a:pt x="1021468" y="3070799"/>
                  </a:lnTo>
                  <a:lnTo>
                    <a:pt x="1008527" y="3119810"/>
                  </a:lnTo>
                  <a:lnTo>
                    <a:pt x="997146" y="3168315"/>
                  </a:lnTo>
                  <a:lnTo>
                    <a:pt x="987335" y="3216274"/>
                  </a:lnTo>
                  <a:lnTo>
                    <a:pt x="979106" y="3263648"/>
                  </a:lnTo>
                  <a:lnTo>
                    <a:pt x="972470" y="3310397"/>
                  </a:lnTo>
                  <a:lnTo>
                    <a:pt x="967439" y="3356483"/>
                  </a:lnTo>
                  <a:lnTo>
                    <a:pt x="964024" y="3401867"/>
                  </a:lnTo>
                  <a:lnTo>
                    <a:pt x="962237" y="3446508"/>
                  </a:lnTo>
                  <a:lnTo>
                    <a:pt x="962089" y="3490367"/>
                  </a:lnTo>
                  <a:lnTo>
                    <a:pt x="963591" y="3533406"/>
                  </a:lnTo>
                  <a:lnTo>
                    <a:pt x="966756" y="3575586"/>
                  </a:lnTo>
                  <a:lnTo>
                    <a:pt x="971593" y="3616866"/>
                  </a:lnTo>
                  <a:lnTo>
                    <a:pt x="978116" y="3657207"/>
                  </a:lnTo>
                  <a:lnTo>
                    <a:pt x="986335" y="3696572"/>
                  </a:lnTo>
                  <a:lnTo>
                    <a:pt x="996261" y="3734919"/>
                  </a:lnTo>
                  <a:lnTo>
                    <a:pt x="1007907" y="3772210"/>
                  </a:lnTo>
                  <a:lnTo>
                    <a:pt x="1021283" y="3808405"/>
                  </a:lnTo>
                  <a:lnTo>
                    <a:pt x="1036401" y="3843466"/>
                  </a:lnTo>
                  <a:lnTo>
                    <a:pt x="1071910" y="3910027"/>
                  </a:lnTo>
                  <a:lnTo>
                    <a:pt x="1114524" y="3971578"/>
                  </a:lnTo>
                  <a:lnTo>
                    <a:pt x="1164335" y="4027804"/>
                  </a:lnTo>
                  <a:lnTo>
                    <a:pt x="1214033" y="4072481"/>
                  </a:lnTo>
                  <a:lnTo>
                    <a:pt x="1267963" y="4111457"/>
                  </a:lnTo>
                  <a:lnTo>
                    <a:pt x="1325907" y="4144795"/>
                  </a:lnTo>
                  <a:lnTo>
                    <a:pt x="1387642" y="4172562"/>
                  </a:lnTo>
                  <a:lnTo>
                    <a:pt x="1452950" y="4194819"/>
                  </a:lnTo>
                  <a:lnTo>
                    <a:pt x="1521610" y="4211633"/>
                  </a:lnTo>
                  <a:lnTo>
                    <a:pt x="1593401" y="4223067"/>
                  </a:lnTo>
                  <a:lnTo>
                    <a:pt x="1668102" y="4229186"/>
                  </a:lnTo>
                  <a:lnTo>
                    <a:pt x="1706476" y="4230272"/>
                  </a:lnTo>
                  <a:lnTo>
                    <a:pt x="1745494" y="4230054"/>
                  </a:lnTo>
                  <a:lnTo>
                    <a:pt x="1785130" y="4228538"/>
                  </a:lnTo>
                  <a:lnTo>
                    <a:pt x="1825356" y="4225734"/>
                  </a:lnTo>
                  <a:lnTo>
                    <a:pt x="1866145" y="4221650"/>
                  </a:lnTo>
                  <a:lnTo>
                    <a:pt x="1907468" y="4216293"/>
                  </a:lnTo>
                  <a:lnTo>
                    <a:pt x="1949299" y="4209671"/>
                  </a:lnTo>
                  <a:lnTo>
                    <a:pt x="1991610" y="4201793"/>
                  </a:lnTo>
                  <a:lnTo>
                    <a:pt x="2034372" y="4192666"/>
                  </a:lnTo>
                  <a:lnTo>
                    <a:pt x="2077560" y="4182299"/>
                  </a:lnTo>
                  <a:lnTo>
                    <a:pt x="2121144" y="4170700"/>
                  </a:lnTo>
                  <a:lnTo>
                    <a:pt x="2165098" y="4157876"/>
                  </a:lnTo>
                  <a:lnTo>
                    <a:pt x="2209395" y="4143836"/>
                  </a:lnTo>
                  <a:lnTo>
                    <a:pt x="2254005" y="4128588"/>
                  </a:lnTo>
                  <a:lnTo>
                    <a:pt x="2298903" y="4112139"/>
                  </a:lnTo>
                  <a:lnTo>
                    <a:pt x="2344060" y="4094498"/>
                  </a:lnTo>
                  <a:lnTo>
                    <a:pt x="2389449" y="4075673"/>
                  </a:lnTo>
                  <a:lnTo>
                    <a:pt x="2435042" y="4055672"/>
                  </a:lnTo>
                  <a:lnTo>
                    <a:pt x="2480812" y="4034503"/>
                  </a:lnTo>
                  <a:lnTo>
                    <a:pt x="2526731" y="4012174"/>
                  </a:lnTo>
                  <a:lnTo>
                    <a:pt x="2572771" y="3988693"/>
                  </a:lnTo>
                  <a:lnTo>
                    <a:pt x="2618906" y="3964067"/>
                  </a:lnTo>
                  <a:lnTo>
                    <a:pt x="2665107" y="3938306"/>
                  </a:lnTo>
                  <a:lnTo>
                    <a:pt x="2711348" y="3911417"/>
                  </a:lnTo>
                  <a:lnTo>
                    <a:pt x="2757600" y="3883408"/>
                  </a:lnTo>
                  <a:lnTo>
                    <a:pt x="2803835" y="3854288"/>
                  </a:lnTo>
                  <a:lnTo>
                    <a:pt x="2850027" y="3824063"/>
                  </a:lnTo>
                  <a:lnTo>
                    <a:pt x="2896148" y="3792743"/>
                  </a:lnTo>
                  <a:lnTo>
                    <a:pt x="2942170" y="3760335"/>
                  </a:lnTo>
                  <a:lnTo>
                    <a:pt x="2988066" y="3726847"/>
                  </a:lnTo>
                  <a:lnTo>
                    <a:pt x="3033808" y="3692288"/>
                  </a:lnTo>
                  <a:lnTo>
                    <a:pt x="3079369" y="3656665"/>
                  </a:lnTo>
                  <a:lnTo>
                    <a:pt x="3124720" y="3619987"/>
                  </a:lnTo>
                  <a:lnTo>
                    <a:pt x="3169835" y="3582261"/>
                  </a:lnTo>
                  <a:lnTo>
                    <a:pt x="3214686" y="3543495"/>
                  </a:lnTo>
                  <a:lnTo>
                    <a:pt x="3259246" y="3503698"/>
                  </a:lnTo>
                  <a:lnTo>
                    <a:pt x="3303486" y="3462878"/>
                  </a:lnTo>
                  <a:lnTo>
                    <a:pt x="3347380" y="3421042"/>
                  </a:lnTo>
                  <a:lnTo>
                    <a:pt x="3390900" y="3378200"/>
                  </a:lnTo>
                </a:path>
                <a:path w="5210175" h="5173980">
                  <a:moveTo>
                    <a:pt x="4102481" y="2353437"/>
                  </a:moveTo>
                  <a:lnTo>
                    <a:pt x="4124354" y="2298754"/>
                  </a:lnTo>
                  <a:lnTo>
                    <a:pt x="4144497" y="2244437"/>
                  </a:lnTo>
                  <a:lnTo>
                    <a:pt x="4162897" y="2190534"/>
                  </a:lnTo>
                  <a:lnTo>
                    <a:pt x="4179540" y="2137093"/>
                  </a:lnTo>
                  <a:lnTo>
                    <a:pt x="4194412" y="2084163"/>
                  </a:lnTo>
                  <a:lnTo>
                    <a:pt x="4207497" y="2031792"/>
                  </a:lnTo>
                  <a:lnTo>
                    <a:pt x="4218784" y="1980028"/>
                  </a:lnTo>
                  <a:lnTo>
                    <a:pt x="4228256" y="1928919"/>
                  </a:lnTo>
                  <a:lnTo>
                    <a:pt x="4235901" y="1878513"/>
                  </a:lnTo>
                  <a:lnTo>
                    <a:pt x="4241704" y="1828859"/>
                  </a:lnTo>
                  <a:lnTo>
                    <a:pt x="4245651" y="1780004"/>
                  </a:lnTo>
                  <a:lnTo>
                    <a:pt x="4247729" y="1731998"/>
                  </a:lnTo>
                  <a:lnTo>
                    <a:pt x="4247922" y="1684887"/>
                  </a:lnTo>
                  <a:lnTo>
                    <a:pt x="4246218" y="1638721"/>
                  </a:lnTo>
                  <a:lnTo>
                    <a:pt x="4242601" y="1593548"/>
                  </a:lnTo>
                  <a:lnTo>
                    <a:pt x="4237059" y="1549415"/>
                  </a:lnTo>
                  <a:lnTo>
                    <a:pt x="4229576" y="1506371"/>
                  </a:lnTo>
                  <a:lnTo>
                    <a:pt x="4220139" y="1464465"/>
                  </a:lnTo>
                  <a:lnTo>
                    <a:pt x="4208734" y="1423743"/>
                  </a:lnTo>
                  <a:lnTo>
                    <a:pt x="4195346" y="1384256"/>
                  </a:lnTo>
                  <a:lnTo>
                    <a:pt x="4179963" y="1346050"/>
                  </a:lnTo>
                  <a:lnTo>
                    <a:pt x="4162568" y="1309173"/>
                  </a:lnTo>
                  <a:lnTo>
                    <a:pt x="4143150" y="1273675"/>
                  </a:lnTo>
                  <a:lnTo>
                    <a:pt x="4121693" y="1239604"/>
                  </a:lnTo>
                  <a:lnTo>
                    <a:pt x="4098183" y="1207006"/>
                  </a:lnTo>
                  <a:lnTo>
                    <a:pt x="4072606" y="1175932"/>
                  </a:lnTo>
                  <a:lnTo>
                    <a:pt x="4044950" y="1146428"/>
                  </a:lnTo>
                  <a:lnTo>
                    <a:pt x="3995050" y="1101609"/>
                  </a:lnTo>
                  <a:lnTo>
                    <a:pt x="3940901" y="1062509"/>
                  </a:lnTo>
                  <a:lnTo>
                    <a:pt x="3882723" y="1029065"/>
                  </a:lnTo>
                  <a:lnTo>
                    <a:pt x="3820739" y="1001213"/>
                  </a:lnTo>
                  <a:lnTo>
                    <a:pt x="3755170" y="978886"/>
                  </a:lnTo>
                  <a:lnTo>
                    <a:pt x="3686236" y="962022"/>
                  </a:lnTo>
                  <a:lnTo>
                    <a:pt x="3614159" y="950555"/>
                  </a:lnTo>
                  <a:lnTo>
                    <a:pt x="3539161" y="944422"/>
                  </a:lnTo>
                  <a:lnTo>
                    <a:pt x="3500636" y="943335"/>
                  </a:lnTo>
                  <a:lnTo>
                    <a:pt x="3461463" y="943556"/>
                  </a:lnTo>
                  <a:lnTo>
                    <a:pt x="3421670" y="945079"/>
                  </a:lnTo>
                  <a:lnTo>
                    <a:pt x="3381285" y="947895"/>
                  </a:lnTo>
                  <a:lnTo>
                    <a:pt x="3340336" y="951996"/>
                  </a:lnTo>
                  <a:lnTo>
                    <a:pt x="3298850" y="957373"/>
                  </a:lnTo>
                  <a:lnTo>
                    <a:pt x="3256855" y="964019"/>
                  </a:lnTo>
                  <a:lnTo>
                    <a:pt x="3214378" y="971926"/>
                  </a:lnTo>
                  <a:lnTo>
                    <a:pt x="3171448" y="981086"/>
                  </a:lnTo>
                  <a:lnTo>
                    <a:pt x="3128092" y="991490"/>
                  </a:lnTo>
                  <a:lnTo>
                    <a:pt x="3084337" y="1003130"/>
                  </a:lnTo>
                  <a:lnTo>
                    <a:pt x="3040211" y="1015999"/>
                  </a:lnTo>
                  <a:lnTo>
                    <a:pt x="2995743" y="1030088"/>
                  </a:lnTo>
                  <a:lnTo>
                    <a:pt x="2950959" y="1045389"/>
                  </a:lnTo>
                  <a:lnTo>
                    <a:pt x="2905887" y="1061895"/>
                  </a:lnTo>
                  <a:lnTo>
                    <a:pt x="2860555" y="1079597"/>
                  </a:lnTo>
                  <a:lnTo>
                    <a:pt x="2814990" y="1098487"/>
                  </a:lnTo>
                  <a:lnTo>
                    <a:pt x="2769221" y="1118556"/>
                  </a:lnTo>
                  <a:lnTo>
                    <a:pt x="2723274" y="1139798"/>
                  </a:lnTo>
                  <a:lnTo>
                    <a:pt x="2677178" y="1162204"/>
                  </a:lnTo>
                  <a:lnTo>
                    <a:pt x="2630961" y="1185765"/>
                  </a:lnTo>
                  <a:lnTo>
                    <a:pt x="2584649" y="1210474"/>
                  </a:lnTo>
                  <a:lnTo>
                    <a:pt x="2538271" y="1236323"/>
                  </a:lnTo>
                  <a:lnTo>
                    <a:pt x="2491853" y="1263304"/>
                  </a:lnTo>
                  <a:lnTo>
                    <a:pt x="2445425" y="1291408"/>
                  </a:lnTo>
                  <a:lnTo>
                    <a:pt x="2399013" y="1320627"/>
                  </a:lnTo>
                  <a:lnTo>
                    <a:pt x="2352646" y="1350954"/>
                  </a:lnTo>
                  <a:lnTo>
                    <a:pt x="2306350" y="1382380"/>
                  </a:lnTo>
                  <a:lnTo>
                    <a:pt x="2260154" y="1414898"/>
                  </a:lnTo>
                  <a:lnTo>
                    <a:pt x="2214085" y="1448499"/>
                  </a:lnTo>
                  <a:lnTo>
                    <a:pt x="2168170" y="1483174"/>
                  </a:lnTo>
                  <a:lnTo>
                    <a:pt x="2122439" y="1518917"/>
                  </a:lnTo>
                  <a:lnTo>
                    <a:pt x="2076917" y="1555720"/>
                  </a:lnTo>
                  <a:lnTo>
                    <a:pt x="2031633" y="1593573"/>
                  </a:lnTo>
                  <a:lnTo>
                    <a:pt x="1986615" y="1632468"/>
                  </a:lnTo>
                  <a:lnTo>
                    <a:pt x="1941890" y="1672399"/>
                  </a:lnTo>
                  <a:lnTo>
                    <a:pt x="1897485" y="1713357"/>
                  </a:lnTo>
                  <a:lnTo>
                    <a:pt x="1853429" y="1755333"/>
                  </a:lnTo>
                  <a:lnTo>
                    <a:pt x="1809750" y="1798319"/>
                  </a:lnTo>
                </a:path>
                <a:path w="5210175" h="5173980">
                  <a:moveTo>
                    <a:pt x="2221356" y="4500372"/>
                  </a:moveTo>
                  <a:lnTo>
                    <a:pt x="2266123" y="4527944"/>
                  </a:lnTo>
                  <a:lnTo>
                    <a:pt x="2311717" y="4552120"/>
                  </a:lnTo>
                  <a:lnTo>
                    <a:pt x="2358097" y="4572814"/>
                  </a:lnTo>
                  <a:lnTo>
                    <a:pt x="2405221" y="4589938"/>
                  </a:lnTo>
                  <a:lnTo>
                    <a:pt x="2453047" y="4603408"/>
                  </a:lnTo>
                  <a:lnTo>
                    <a:pt x="2501534" y="4613136"/>
                  </a:lnTo>
                  <a:lnTo>
                    <a:pt x="2550641" y="4619036"/>
                  </a:lnTo>
                  <a:lnTo>
                    <a:pt x="2600325" y="4621022"/>
                  </a:lnTo>
                  <a:lnTo>
                    <a:pt x="2633776" y="4620122"/>
                  </a:lnTo>
                  <a:lnTo>
                    <a:pt x="2699932" y="4613005"/>
                  </a:lnTo>
                  <a:lnTo>
                    <a:pt x="2764998" y="4598963"/>
                  </a:lnTo>
                  <a:lnTo>
                    <a:pt x="2828864" y="4578199"/>
                  </a:lnTo>
                  <a:lnTo>
                    <a:pt x="2891419" y="4550913"/>
                  </a:lnTo>
                  <a:lnTo>
                    <a:pt x="2952554" y="4517307"/>
                  </a:lnTo>
                  <a:lnTo>
                    <a:pt x="3012159" y="4477583"/>
                  </a:lnTo>
                  <a:lnTo>
                    <a:pt x="3070122" y="4431942"/>
                  </a:lnTo>
                  <a:lnTo>
                    <a:pt x="3126333" y="4380586"/>
                  </a:lnTo>
                  <a:lnTo>
                    <a:pt x="3153747" y="4352827"/>
                  </a:lnTo>
                  <a:lnTo>
                    <a:pt x="3180682" y="4323716"/>
                  </a:lnTo>
                  <a:lnTo>
                    <a:pt x="3207124" y="4293276"/>
                  </a:lnTo>
                  <a:lnTo>
                    <a:pt x="3233059" y="4261533"/>
                  </a:lnTo>
                  <a:lnTo>
                    <a:pt x="3258473" y="4228512"/>
                  </a:lnTo>
                  <a:lnTo>
                    <a:pt x="3283353" y="4194239"/>
                  </a:lnTo>
                  <a:lnTo>
                    <a:pt x="3307684" y="4158739"/>
                  </a:lnTo>
                  <a:lnTo>
                    <a:pt x="3331454" y="4122036"/>
                  </a:lnTo>
                  <a:lnTo>
                    <a:pt x="3354647" y="4084156"/>
                  </a:lnTo>
                  <a:lnTo>
                    <a:pt x="3377251" y="4045125"/>
                  </a:lnTo>
                  <a:lnTo>
                    <a:pt x="3399252" y="4004967"/>
                  </a:lnTo>
                  <a:lnTo>
                    <a:pt x="3420635" y="3963707"/>
                  </a:lnTo>
                  <a:lnTo>
                    <a:pt x="3441387" y="3921372"/>
                  </a:lnTo>
                  <a:lnTo>
                    <a:pt x="3461494" y="3877985"/>
                  </a:lnTo>
                  <a:lnTo>
                    <a:pt x="3480943" y="3833572"/>
                  </a:lnTo>
                  <a:lnTo>
                    <a:pt x="3499719" y="3788159"/>
                  </a:lnTo>
                  <a:lnTo>
                    <a:pt x="3517809" y="3741770"/>
                  </a:lnTo>
                  <a:lnTo>
                    <a:pt x="3535199" y="3694430"/>
                  </a:lnTo>
                  <a:lnTo>
                    <a:pt x="3551875" y="3646166"/>
                  </a:lnTo>
                  <a:lnTo>
                    <a:pt x="3567824" y="3597002"/>
                  </a:lnTo>
                  <a:lnTo>
                    <a:pt x="3583031" y="3546962"/>
                  </a:lnTo>
                  <a:lnTo>
                    <a:pt x="3597483" y="3496074"/>
                  </a:lnTo>
                  <a:lnTo>
                    <a:pt x="3611166" y="3444361"/>
                  </a:lnTo>
                  <a:lnTo>
                    <a:pt x="3624066" y="3391848"/>
                  </a:lnTo>
                  <a:lnTo>
                    <a:pt x="3636170" y="3338562"/>
                  </a:lnTo>
                  <a:lnTo>
                    <a:pt x="3647463" y="3284527"/>
                  </a:lnTo>
                  <a:lnTo>
                    <a:pt x="3657932" y="3229768"/>
                  </a:lnTo>
                  <a:lnTo>
                    <a:pt x="3667563" y="3174311"/>
                  </a:lnTo>
                  <a:lnTo>
                    <a:pt x="3676342" y="3118180"/>
                  </a:lnTo>
                  <a:lnTo>
                    <a:pt x="3684256" y="3061401"/>
                  </a:lnTo>
                  <a:lnTo>
                    <a:pt x="3691290" y="3004000"/>
                  </a:lnTo>
                  <a:lnTo>
                    <a:pt x="3697431" y="2946000"/>
                  </a:lnTo>
                  <a:lnTo>
                    <a:pt x="3702665" y="2887429"/>
                  </a:lnTo>
                  <a:lnTo>
                    <a:pt x="3706979" y="2828309"/>
                  </a:lnTo>
                  <a:lnTo>
                    <a:pt x="3710358" y="2768668"/>
                  </a:lnTo>
                  <a:lnTo>
                    <a:pt x="3712788" y="2708530"/>
                  </a:lnTo>
                  <a:lnTo>
                    <a:pt x="3714257" y="2647919"/>
                  </a:lnTo>
                  <a:lnTo>
                    <a:pt x="3714750" y="2586863"/>
                  </a:lnTo>
                  <a:lnTo>
                    <a:pt x="3714257" y="2525799"/>
                  </a:lnTo>
                  <a:lnTo>
                    <a:pt x="3712788" y="2465183"/>
                  </a:lnTo>
                  <a:lnTo>
                    <a:pt x="3710358" y="2405039"/>
                  </a:lnTo>
                  <a:lnTo>
                    <a:pt x="3706979" y="2345392"/>
                  </a:lnTo>
                  <a:lnTo>
                    <a:pt x="3702665" y="2286268"/>
                  </a:lnTo>
                  <a:lnTo>
                    <a:pt x="3697431" y="2227692"/>
                  </a:lnTo>
                  <a:lnTo>
                    <a:pt x="3691290" y="2169688"/>
                  </a:lnTo>
                  <a:lnTo>
                    <a:pt x="3684256" y="2112283"/>
                  </a:lnTo>
                  <a:lnTo>
                    <a:pt x="3676342" y="2055501"/>
                  </a:lnTo>
                  <a:lnTo>
                    <a:pt x="3667563" y="1999368"/>
                  </a:lnTo>
                  <a:lnTo>
                    <a:pt x="3657932" y="1943908"/>
                  </a:lnTo>
                  <a:lnTo>
                    <a:pt x="3647463" y="1889147"/>
                  </a:lnTo>
                  <a:lnTo>
                    <a:pt x="3636170" y="1835110"/>
                  </a:lnTo>
                  <a:lnTo>
                    <a:pt x="3624066" y="1781823"/>
                  </a:lnTo>
                  <a:lnTo>
                    <a:pt x="3611166" y="1729309"/>
                  </a:lnTo>
                  <a:lnTo>
                    <a:pt x="3597483" y="1677595"/>
                  </a:lnTo>
                  <a:lnTo>
                    <a:pt x="3583031" y="1626706"/>
                  </a:lnTo>
                  <a:lnTo>
                    <a:pt x="3567824" y="1576667"/>
                  </a:lnTo>
                  <a:lnTo>
                    <a:pt x="3551875" y="1527503"/>
                  </a:lnTo>
                  <a:lnTo>
                    <a:pt x="3535199" y="1479239"/>
                  </a:lnTo>
                  <a:lnTo>
                    <a:pt x="3517809" y="1431900"/>
                  </a:lnTo>
                  <a:lnTo>
                    <a:pt x="3499719" y="1385512"/>
                  </a:lnTo>
                  <a:lnTo>
                    <a:pt x="3480943" y="1340099"/>
                  </a:lnTo>
                  <a:lnTo>
                    <a:pt x="3461494" y="1295687"/>
                  </a:lnTo>
                  <a:lnTo>
                    <a:pt x="3441387" y="1252302"/>
                  </a:lnTo>
                  <a:lnTo>
                    <a:pt x="3420635" y="1209968"/>
                  </a:lnTo>
                  <a:lnTo>
                    <a:pt x="3399252" y="1168710"/>
                  </a:lnTo>
                  <a:lnTo>
                    <a:pt x="3377251" y="1128553"/>
                  </a:lnTo>
                  <a:lnTo>
                    <a:pt x="3354647" y="1089524"/>
                  </a:lnTo>
                  <a:lnTo>
                    <a:pt x="3331454" y="1051646"/>
                  </a:lnTo>
                  <a:lnTo>
                    <a:pt x="3307684" y="1014945"/>
                  </a:lnTo>
                  <a:lnTo>
                    <a:pt x="3283353" y="979447"/>
                  </a:lnTo>
                  <a:lnTo>
                    <a:pt x="3258473" y="945176"/>
                  </a:lnTo>
                  <a:lnTo>
                    <a:pt x="3233059" y="912158"/>
                  </a:lnTo>
                  <a:lnTo>
                    <a:pt x="3207124" y="880417"/>
                  </a:lnTo>
                  <a:lnTo>
                    <a:pt x="3180682" y="849980"/>
                  </a:lnTo>
                  <a:lnTo>
                    <a:pt x="3153747" y="820870"/>
                  </a:lnTo>
                  <a:lnTo>
                    <a:pt x="3126333" y="793114"/>
                  </a:lnTo>
                  <a:lnTo>
                    <a:pt x="3098453" y="766736"/>
                  </a:lnTo>
                  <a:lnTo>
                    <a:pt x="3041352" y="718217"/>
                  </a:lnTo>
                  <a:lnTo>
                    <a:pt x="2982555" y="675513"/>
                  </a:lnTo>
                  <a:lnTo>
                    <a:pt x="2922171" y="638827"/>
                  </a:lnTo>
                  <a:lnTo>
                    <a:pt x="2860312" y="608360"/>
                  </a:lnTo>
                  <a:lnTo>
                    <a:pt x="2797087" y="584312"/>
                  </a:lnTo>
                  <a:lnTo>
                    <a:pt x="2732608" y="566886"/>
                  </a:lnTo>
                  <a:lnTo>
                    <a:pt x="2666983" y="556283"/>
                  </a:lnTo>
                  <a:lnTo>
                    <a:pt x="2600325" y="552703"/>
                  </a:lnTo>
                  <a:lnTo>
                    <a:pt x="2566866" y="553602"/>
                  </a:lnTo>
                  <a:lnTo>
                    <a:pt x="2500699" y="560719"/>
                  </a:lnTo>
                  <a:lnTo>
                    <a:pt x="2435623" y="574759"/>
                  </a:lnTo>
                  <a:lnTo>
                    <a:pt x="2371749" y="595521"/>
                  </a:lnTo>
                  <a:lnTo>
                    <a:pt x="2309186" y="622804"/>
                  </a:lnTo>
                  <a:lnTo>
                    <a:pt x="2248046" y="656406"/>
                  </a:lnTo>
                  <a:lnTo>
                    <a:pt x="2188438" y="696126"/>
                  </a:lnTo>
                  <a:lnTo>
                    <a:pt x="2130472" y="741762"/>
                  </a:lnTo>
                  <a:lnTo>
                    <a:pt x="2074260" y="793114"/>
                  </a:lnTo>
                  <a:lnTo>
                    <a:pt x="2046846" y="820870"/>
                  </a:lnTo>
                  <a:lnTo>
                    <a:pt x="2019911" y="849980"/>
                  </a:lnTo>
                  <a:lnTo>
                    <a:pt x="1993469" y="880417"/>
                  </a:lnTo>
                  <a:lnTo>
                    <a:pt x="1967535" y="912158"/>
                  </a:lnTo>
                  <a:lnTo>
                    <a:pt x="1942121" y="945176"/>
                  </a:lnTo>
                  <a:lnTo>
                    <a:pt x="1917242" y="979447"/>
                  </a:lnTo>
                  <a:lnTo>
                    <a:pt x="1892912" y="1014945"/>
                  </a:lnTo>
                  <a:lnTo>
                    <a:pt x="1869144" y="1051646"/>
                  </a:lnTo>
                  <a:lnTo>
                    <a:pt x="1845952" y="1089524"/>
                  </a:lnTo>
                  <a:lnTo>
                    <a:pt x="1823349" y="1128553"/>
                  </a:lnTo>
                  <a:lnTo>
                    <a:pt x="1801351" y="1168710"/>
                  </a:lnTo>
                  <a:lnTo>
                    <a:pt x="1779969" y="1209968"/>
                  </a:lnTo>
                  <a:lnTo>
                    <a:pt x="1759219" y="1252302"/>
                  </a:lnTo>
                  <a:lnTo>
                    <a:pt x="1739114" y="1295687"/>
                  </a:lnTo>
                  <a:lnTo>
                    <a:pt x="1719667" y="1340099"/>
                  </a:lnTo>
                  <a:lnTo>
                    <a:pt x="1700893" y="1385512"/>
                  </a:lnTo>
                  <a:lnTo>
                    <a:pt x="1682805" y="1431900"/>
                  </a:lnTo>
                  <a:lnTo>
                    <a:pt x="1665418" y="1479239"/>
                  </a:lnTo>
                  <a:lnTo>
                    <a:pt x="1648744" y="1527503"/>
                  </a:lnTo>
                  <a:lnTo>
                    <a:pt x="1632798" y="1576667"/>
                  </a:lnTo>
                  <a:lnTo>
                    <a:pt x="1617593" y="1626706"/>
                  </a:lnTo>
                  <a:lnTo>
                    <a:pt x="1603143" y="1677595"/>
                  </a:lnTo>
                  <a:lnTo>
                    <a:pt x="1589463" y="1729309"/>
                  </a:lnTo>
                  <a:lnTo>
                    <a:pt x="1576565" y="1781823"/>
                  </a:lnTo>
                  <a:lnTo>
                    <a:pt x="1564463" y="1835110"/>
                  </a:lnTo>
                  <a:lnTo>
                    <a:pt x="1553172" y="1889147"/>
                  </a:lnTo>
                  <a:lnTo>
                    <a:pt x="1542705" y="1943908"/>
                  </a:lnTo>
                  <a:lnTo>
                    <a:pt x="1533076" y="1999368"/>
                  </a:lnTo>
                  <a:lnTo>
                    <a:pt x="1524298" y="2055501"/>
                  </a:lnTo>
                  <a:lnTo>
                    <a:pt x="1516386" y="2112283"/>
                  </a:lnTo>
                  <a:lnTo>
                    <a:pt x="1509354" y="2169688"/>
                  </a:lnTo>
                  <a:lnTo>
                    <a:pt x="1503214" y="2227692"/>
                  </a:lnTo>
                  <a:lnTo>
                    <a:pt x="1497981" y="2286268"/>
                  </a:lnTo>
                  <a:lnTo>
                    <a:pt x="1493668" y="2345392"/>
                  </a:lnTo>
                  <a:lnTo>
                    <a:pt x="1490290" y="2405039"/>
                  </a:lnTo>
                  <a:lnTo>
                    <a:pt x="1487860" y="2465183"/>
                  </a:lnTo>
                  <a:lnTo>
                    <a:pt x="1486392" y="2525799"/>
                  </a:lnTo>
                  <a:lnTo>
                    <a:pt x="1485900" y="2586863"/>
                  </a:lnTo>
                  <a:lnTo>
                    <a:pt x="1486295" y="2641584"/>
                  </a:lnTo>
                  <a:lnTo>
                    <a:pt x="1487474" y="2695949"/>
                  </a:lnTo>
                  <a:lnTo>
                    <a:pt x="1489426" y="2749939"/>
                  </a:lnTo>
                  <a:lnTo>
                    <a:pt x="1492143" y="2803538"/>
                  </a:lnTo>
                  <a:lnTo>
                    <a:pt x="1495614" y="2856725"/>
                  </a:lnTo>
                  <a:lnTo>
                    <a:pt x="1499829" y="2909485"/>
                  </a:lnTo>
                  <a:lnTo>
                    <a:pt x="1504779" y="2961797"/>
                  </a:lnTo>
                  <a:lnTo>
                    <a:pt x="1510454" y="3013645"/>
                  </a:lnTo>
                  <a:lnTo>
                    <a:pt x="1516843" y="3065010"/>
                  </a:lnTo>
                  <a:lnTo>
                    <a:pt x="1523937" y="3115874"/>
                  </a:lnTo>
                  <a:lnTo>
                    <a:pt x="1531727" y="3166219"/>
                  </a:lnTo>
                  <a:lnTo>
                    <a:pt x="1540202" y="3216028"/>
                  </a:lnTo>
                  <a:lnTo>
                    <a:pt x="1549352" y="3265281"/>
                  </a:lnTo>
                  <a:lnTo>
                    <a:pt x="1559168" y="3313961"/>
                  </a:lnTo>
                  <a:lnTo>
                    <a:pt x="1569639" y="3362049"/>
                  </a:lnTo>
                  <a:lnTo>
                    <a:pt x="1580757" y="3409528"/>
                  </a:lnTo>
                  <a:lnTo>
                    <a:pt x="1592511" y="3456380"/>
                  </a:lnTo>
                  <a:lnTo>
                    <a:pt x="1604891" y="3502587"/>
                  </a:lnTo>
                  <a:lnTo>
                    <a:pt x="1617887" y="3548129"/>
                  </a:lnTo>
                  <a:lnTo>
                    <a:pt x="1631490" y="3592990"/>
                  </a:lnTo>
                  <a:lnTo>
                    <a:pt x="1645690" y="3637152"/>
                  </a:lnTo>
                  <a:lnTo>
                    <a:pt x="1660476" y="3680595"/>
                  </a:lnTo>
                  <a:lnTo>
                    <a:pt x="1675840" y="3723303"/>
                  </a:lnTo>
                  <a:lnTo>
                    <a:pt x="1691771" y="3765256"/>
                  </a:lnTo>
                  <a:lnTo>
                    <a:pt x="1708259" y="3806438"/>
                  </a:lnTo>
                  <a:lnTo>
                    <a:pt x="1725295" y="3846829"/>
                  </a:lnTo>
                </a:path>
                <a:path w="5210175" h="5173980">
                  <a:moveTo>
                    <a:pt x="0" y="2591562"/>
                  </a:moveTo>
                  <a:lnTo>
                    <a:pt x="5210175" y="2591562"/>
                  </a:lnTo>
                </a:path>
                <a:path w="5210175" h="5173980">
                  <a:moveTo>
                    <a:pt x="2600325" y="0"/>
                  </a:moveTo>
                  <a:lnTo>
                    <a:pt x="2600325" y="5173586"/>
                  </a:lnTo>
                </a:path>
              </a:pathLst>
            </a:custGeom>
            <a:ln w="25407">
              <a:solidFill>
                <a:srgbClr val="F9F9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92525" y="7755508"/>
              <a:ext cx="180975" cy="18110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3111226" y="7646034"/>
              <a:ext cx="409575" cy="410209"/>
            </a:xfrm>
            <a:custGeom>
              <a:avLst/>
              <a:gdLst/>
              <a:ahLst/>
              <a:cxnLst/>
              <a:rect l="l" t="t" r="r" b="b"/>
              <a:pathLst>
                <a:path w="409575" h="410209">
                  <a:moveTo>
                    <a:pt x="204723" y="409702"/>
                  </a:moveTo>
                  <a:lnTo>
                    <a:pt x="251701" y="404286"/>
                  </a:lnTo>
                  <a:lnTo>
                    <a:pt x="294821" y="388862"/>
                  </a:lnTo>
                  <a:lnTo>
                    <a:pt x="332856" y="364665"/>
                  </a:lnTo>
                  <a:lnTo>
                    <a:pt x="364578" y="332930"/>
                  </a:lnTo>
                  <a:lnTo>
                    <a:pt x="388757" y="294892"/>
                  </a:lnTo>
                  <a:lnTo>
                    <a:pt x="404165" y="251788"/>
                  </a:lnTo>
                  <a:lnTo>
                    <a:pt x="409575" y="204851"/>
                  </a:lnTo>
                  <a:lnTo>
                    <a:pt x="404165" y="157873"/>
                  </a:lnTo>
                  <a:lnTo>
                    <a:pt x="388757" y="114753"/>
                  </a:lnTo>
                  <a:lnTo>
                    <a:pt x="364578" y="76718"/>
                  </a:lnTo>
                  <a:lnTo>
                    <a:pt x="332856" y="44996"/>
                  </a:lnTo>
                  <a:lnTo>
                    <a:pt x="294821" y="20817"/>
                  </a:lnTo>
                  <a:lnTo>
                    <a:pt x="251701" y="5409"/>
                  </a:lnTo>
                  <a:lnTo>
                    <a:pt x="204723" y="0"/>
                  </a:lnTo>
                  <a:lnTo>
                    <a:pt x="157753" y="5409"/>
                  </a:lnTo>
                  <a:lnTo>
                    <a:pt x="114651" y="20817"/>
                  </a:lnTo>
                  <a:lnTo>
                    <a:pt x="76641" y="44996"/>
                  </a:lnTo>
                  <a:lnTo>
                    <a:pt x="44946" y="76718"/>
                  </a:lnTo>
                  <a:lnTo>
                    <a:pt x="20792" y="114753"/>
                  </a:lnTo>
                  <a:lnTo>
                    <a:pt x="5402" y="157873"/>
                  </a:lnTo>
                  <a:lnTo>
                    <a:pt x="0" y="204851"/>
                  </a:lnTo>
                  <a:lnTo>
                    <a:pt x="5402" y="251788"/>
                  </a:lnTo>
                  <a:lnTo>
                    <a:pt x="20792" y="294892"/>
                  </a:lnTo>
                  <a:lnTo>
                    <a:pt x="44946" y="332930"/>
                  </a:lnTo>
                  <a:lnTo>
                    <a:pt x="76641" y="364665"/>
                  </a:lnTo>
                  <a:lnTo>
                    <a:pt x="114651" y="388862"/>
                  </a:lnTo>
                  <a:lnTo>
                    <a:pt x="157753" y="404286"/>
                  </a:lnTo>
                  <a:lnTo>
                    <a:pt x="204723" y="409702"/>
                  </a:lnTo>
                  <a:close/>
                </a:path>
              </a:pathLst>
            </a:custGeom>
            <a:ln w="25407">
              <a:solidFill>
                <a:srgbClr val="F9F9F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88599-4531-6EFC-B624-DB99356CF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1DBBE84-C625-82D8-A153-898A82252E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7405" y="291677"/>
            <a:ext cx="16583025" cy="1081811"/>
          </a:xfrm>
          <a:prstGeom prst="rect">
            <a:avLst/>
          </a:prstGeom>
        </p:spPr>
        <p:txBody>
          <a:bodyPr vert="horz" wrap="square" lIns="0" tIns="156949" rIns="0" bIns="0" rtlCol="0">
            <a:spAutoFit/>
          </a:bodyPr>
          <a:lstStyle/>
          <a:p>
            <a:pPr marL="238125">
              <a:lnSpc>
                <a:spcPct val="100000"/>
              </a:lnSpc>
              <a:spcBef>
                <a:spcPts val="105"/>
              </a:spcBef>
            </a:pPr>
            <a:r>
              <a:rPr lang="ru-RU" sz="6000" dirty="0">
                <a:solidFill>
                  <a:srgbClr val="FFFFFF"/>
                </a:solidFill>
                <a:latin typeface="Trebuchet MS"/>
                <a:cs typeface="Trebuchet MS"/>
              </a:rPr>
              <a:t>Текущая ситуация </a:t>
            </a:r>
            <a:endParaRPr sz="6000" dirty="0">
              <a:latin typeface="Trebuchet MS"/>
              <a:cs typeface="Trebuchet M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E3B6A4-A3CD-B337-C265-AA50515BA223}"/>
              </a:ext>
            </a:extLst>
          </p:cNvPr>
          <p:cNvSpPr txBox="1"/>
          <p:nvPr/>
        </p:nvSpPr>
        <p:spPr>
          <a:xfrm>
            <a:off x="1003300" y="1695450"/>
            <a:ext cx="109749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Количество клиентов </a:t>
            </a:r>
            <a:r>
              <a:rPr lang="en-US" sz="2400" dirty="0">
                <a:solidFill>
                  <a:schemeClr val="bg1"/>
                </a:solidFill>
              </a:rPr>
              <a:t>-</a:t>
            </a:r>
            <a:r>
              <a:rPr lang="ru-RU" sz="2400" dirty="0">
                <a:solidFill>
                  <a:schemeClr val="bg1"/>
                </a:solidFill>
              </a:rPr>
              <a:t> 8713</a:t>
            </a:r>
          </a:p>
          <a:p>
            <a:r>
              <a:rPr lang="ru-RU" sz="2400" dirty="0">
                <a:solidFill>
                  <a:schemeClr val="bg1"/>
                </a:solidFill>
              </a:rPr>
              <a:t>Прибыль с одного клиента с/без таргетированием </a:t>
            </a:r>
            <a:r>
              <a:rPr lang="en-US" sz="2400" dirty="0">
                <a:solidFill>
                  <a:schemeClr val="bg1"/>
                </a:solidFill>
              </a:rPr>
              <a:t>- </a:t>
            </a:r>
            <a:r>
              <a:rPr lang="ru-RU" sz="2400" dirty="0">
                <a:solidFill>
                  <a:schemeClr val="bg1"/>
                </a:solidFill>
              </a:rPr>
              <a:t>755/15755 </a:t>
            </a:r>
            <a:r>
              <a:rPr lang="ru-RU" sz="2400" dirty="0" err="1">
                <a:solidFill>
                  <a:schemeClr val="bg1"/>
                </a:solidFill>
              </a:rPr>
              <a:t>руб</a:t>
            </a:r>
            <a:endParaRPr lang="ru-RU" sz="24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</a:rPr>
              <a:t>Количество клиентов, которых планируется привлечь </a:t>
            </a:r>
            <a:r>
              <a:rPr lang="en-US" sz="2400" dirty="0">
                <a:solidFill>
                  <a:schemeClr val="bg1"/>
                </a:solidFill>
              </a:rPr>
              <a:t>- </a:t>
            </a:r>
            <a:r>
              <a:rPr lang="ru-RU" sz="2400" dirty="0">
                <a:solidFill>
                  <a:schemeClr val="bg1"/>
                </a:solidFill>
              </a:rPr>
              <a:t> 1000</a:t>
            </a:r>
          </a:p>
          <a:p>
            <a:r>
              <a:rPr lang="ru-RU" sz="2400" dirty="0">
                <a:solidFill>
                  <a:schemeClr val="bg1"/>
                </a:solidFill>
              </a:rPr>
              <a:t>Цена привлечения </a:t>
            </a:r>
            <a:r>
              <a:rPr lang="en-US" sz="2400" dirty="0">
                <a:solidFill>
                  <a:schemeClr val="bg1"/>
                </a:solidFill>
              </a:rPr>
              <a:t>-</a:t>
            </a:r>
            <a:r>
              <a:rPr lang="ru-RU" sz="2400" dirty="0">
                <a:solidFill>
                  <a:schemeClr val="bg1"/>
                </a:solidFill>
              </a:rPr>
              <a:t>15000 </a:t>
            </a:r>
            <a:r>
              <a:rPr lang="ru-RU" sz="2400" dirty="0" err="1">
                <a:solidFill>
                  <a:schemeClr val="bg1"/>
                </a:solidFill>
              </a:rPr>
              <a:t>руб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473DC9-1DA3-ED41-D01A-844467D1E5BD}"/>
              </a:ext>
            </a:extLst>
          </p:cNvPr>
          <p:cNvSpPr txBox="1"/>
          <p:nvPr/>
        </p:nvSpPr>
        <p:spPr>
          <a:xfrm>
            <a:off x="1020313" y="4057650"/>
            <a:ext cx="983196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0B0F0"/>
                </a:solidFill>
              </a:rPr>
              <a:t>Проверка статистической значимости без таргетирования:</a:t>
            </a:r>
          </a:p>
          <a:p>
            <a:endParaRPr lang="ru-RU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H_0: </a:t>
            </a:r>
            <a:r>
              <a:rPr lang="ru-RU" sz="2400" dirty="0">
                <a:solidFill>
                  <a:schemeClr val="bg1"/>
                </a:solidFill>
              </a:rPr>
              <a:t>средняя прибыль </a:t>
            </a:r>
            <a:r>
              <a:rPr lang="en-US" sz="2400" dirty="0">
                <a:solidFill>
                  <a:schemeClr val="bg1"/>
                </a:solidFill>
              </a:rPr>
              <a:t>&lt;=15000 </a:t>
            </a:r>
          </a:p>
          <a:p>
            <a:r>
              <a:rPr lang="en-US" sz="2400" dirty="0">
                <a:solidFill>
                  <a:schemeClr val="bg1"/>
                </a:solidFill>
              </a:rPr>
              <a:t>H_1: </a:t>
            </a:r>
            <a:r>
              <a:rPr lang="ru-RU" sz="2400" dirty="0">
                <a:solidFill>
                  <a:schemeClr val="bg1"/>
                </a:solidFill>
              </a:rPr>
              <a:t>средняя прибыль </a:t>
            </a:r>
            <a:r>
              <a:rPr lang="en-US" sz="2400" dirty="0">
                <a:solidFill>
                  <a:schemeClr val="bg1"/>
                </a:solidFill>
              </a:rPr>
              <a:t>&gt;15000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</a:rPr>
              <a:t>Прибыль без таргетирования 755 </a:t>
            </a:r>
            <a:r>
              <a:rPr lang="en-US" sz="2400" dirty="0">
                <a:solidFill>
                  <a:schemeClr val="bg1"/>
                </a:solidFill>
              </a:rPr>
              <a:t>&lt;</a:t>
            </a:r>
            <a:r>
              <a:rPr lang="ru-RU" sz="2400" dirty="0">
                <a:solidFill>
                  <a:schemeClr val="bg1"/>
                </a:solidFill>
              </a:rPr>
              <a:t> 15000 =</a:t>
            </a:r>
            <a:r>
              <a:rPr lang="en-US" sz="2400" dirty="0">
                <a:solidFill>
                  <a:schemeClr val="bg1"/>
                </a:solidFill>
              </a:rPr>
              <a:t>&gt;</a:t>
            </a:r>
            <a:r>
              <a:rPr lang="ru-RU" sz="2400" dirty="0">
                <a:solidFill>
                  <a:schemeClr val="bg1"/>
                </a:solidFill>
              </a:rPr>
              <a:t> средняя прибыль на клиента статистически значимо не превышает стоимость привлечения</a:t>
            </a:r>
          </a:p>
          <a:p>
            <a:endParaRPr lang="ru-RU" sz="24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rgbClr val="00B0F0"/>
                </a:solidFill>
              </a:rPr>
              <a:t>Вывод</a:t>
            </a:r>
            <a:r>
              <a:rPr lang="ru-RU" sz="2400" dirty="0">
                <a:solidFill>
                  <a:schemeClr val="bg1"/>
                </a:solidFill>
              </a:rPr>
              <a:t>: при среднем значении прибыли 755 </a:t>
            </a:r>
            <a:r>
              <a:rPr lang="ru-RU" sz="2400" dirty="0" err="1">
                <a:solidFill>
                  <a:schemeClr val="bg1"/>
                </a:solidFill>
              </a:rPr>
              <a:t>руб</a:t>
            </a:r>
            <a:r>
              <a:rPr lang="ru-RU" sz="2400" dirty="0">
                <a:solidFill>
                  <a:schemeClr val="bg1"/>
                </a:solidFill>
              </a:rPr>
              <a:t> и стоимости привлечения 15 000 </a:t>
            </a:r>
            <a:r>
              <a:rPr lang="ru-RU" sz="2400" dirty="0" err="1">
                <a:solidFill>
                  <a:schemeClr val="bg1"/>
                </a:solidFill>
              </a:rPr>
              <a:t>руб</a:t>
            </a:r>
            <a:r>
              <a:rPr lang="ru-RU" sz="2400" dirty="0">
                <a:solidFill>
                  <a:schemeClr val="bg1"/>
                </a:solidFill>
              </a:rPr>
              <a:t> привлечение клиентов</a:t>
            </a:r>
          </a:p>
          <a:p>
            <a:r>
              <a:rPr lang="ru-RU" sz="2400" dirty="0">
                <a:solidFill>
                  <a:schemeClr val="bg1"/>
                </a:solidFill>
              </a:rPr>
              <a:t>без таргетирования является экономически нецелесообразным.</a:t>
            </a:r>
          </a:p>
          <a:p>
            <a:r>
              <a:rPr lang="ru-RU" sz="2400" dirty="0">
                <a:solidFill>
                  <a:schemeClr val="bg1"/>
                </a:solidFill>
              </a:rPr>
              <a:t>Статистический тест не выявил значимого превышения прибыли над ценой привлечения, что указывает на</a:t>
            </a:r>
          </a:p>
          <a:p>
            <a:r>
              <a:rPr lang="ru-RU" sz="2400" dirty="0">
                <a:solidFill>
                  <a:schemeClr val="bg1"/>
                </a:solidFill>
              </a:rPr>
              <a:t>необходимость таргетированного привлечения клиентов.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540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3D062-AAD7-05E9-F7FE-63B35ED9B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85EE71C-AA07-9070-8AA5-385E4FB99D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7405" y="291677"/>
            <a:ext cx="17854295" cy="989478"/>
          </a:xfrm>
          <a:prstGeom prst="rect">
            <a:avLst/>
          </a:prstGeom>
        </p:spPr>
        <p:txBody>
          <a:bodyPr vert="horz" wrap="square" lIns="0" tIns="156949" rIns="0" bIns="0" rtlCol="0">
            <a:spAutoFit/>
          </a:bodyPr>
          <a:lstStyle/>
          <a:p>
            <a:r>
              <a:rPr lang="ru-RU" sz="5400" dirty="0"/>
              <a:t>«Мужчины 18</a:t>
            </a:r>
            <a:r>
              <a:rPr lang="en-US" sz="5400" dirty="0"/>
              <a:t>-</a:t>
            </a:r>
            <a:r>
              <a:rPr lang="ru-RU" sz="5400" dirty="0"/>
              <a:t>24 лет» и «Женщины 18</a:t>
            </a:r>
            <a:r>
              <a:rPr lang="en-US" sz="5400" dirty="0"/>
              <a:t>-</a:t>
            </a:r>
            <a:r>
              <a:rPr lang="ru-RU" sz="5400" dirty="0"/>
              <a:t>24 лет»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C23E9E-4DFA-A845-6898-D7F5582D9564}"/>
              </a:ext>
            </a:extLst>
          </p:cNvPr>
          <p:cNvSpPr txBox="1"/>
          <p:nvPr/>
        </p:nvSpPr>
        <p:spPr>
          <a:xfrm>
            <a:off x="622300" y="1789169"/>
            <a:ext cx="11811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0B0F0"/>
                </a:solidFill>
              </a:rPr>
              <a:t>Статистическая значимость разницы в прибыльности</a:t>
            </a:r>
          </a:p>
          <a:p>
            <a:endParaRPr lang="ru-RU" sz="24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</a:rPr>
              <a:t>Средняя прибыль:</a:t>
            </a:r>
          </a:p>
          <a:p>
            <a:r>
              <a:rPr lang="ru-RU" sz="2400" dirty="0">
                <a:solidFill>
                  <a:schemeClr val="bg1"/>
                </a:solidFill>
              </a:rPr>
              <a:t>	Мужчины 18</a:t>
            </a:r>
            <a:r>
              <a:rPr lang="en-US" sz="2400" dirty="0">
                <a:solidFill>
                  <a:schemeClr val="bg1"/>
                </a:solidFill>
              </a:rPr>
              <a:t>-</a:t>
            </a:r>
            <a:r>
              <a:rPr lang="ru-RU" sz="2400" dirty="0">
                <a:solidFill>
                  <a:schemeClr val="bg1"/>
                </a:solidFill>
              </a:rPr>
              <a:t>24 лет: 13 156 </a:t>
            </a:r>
          </a:p>
          <a:p>
            <a:r>
              <a:rPr lang="ru-RU" sz="2400" dirty="0">
                <a:solidFill>
                  <a:schemeClr val="bg1"/>
                </a:solidFill>
              </a:rPr>
              <a:t>	Женщины 18</a:t>
            </a:r>
            <a:r>
              <a:rPr lang="en-US" sz="2400" dirty="0">
                <a:solidFill>
                  <a:schemeClr val="bg1"/>
                </a:solidFill>
              </a:rPr>
              <a:t>-</a:t>
            </a:r>
            <a:r>
              <a:rPr lang="ru-RU" sz="2400" dirty="0">
                <a:solidFill>
                  <a:schemeClr val="bg1"/>
                </a:solidFill>
              </a:rPr>
              <a:t>24 лет: 26 278 </a:t>
            </a:r>
          </a:p>
          <a:p>
            <a:r>
              <a:rPr lang="ru-RU" sz="2400" dirty="0">
                <a:solidFill>
                  <a:schemeClr val="bg1"/>
                </a:solidFill>
              </a:rPr>
              <a:t>	Разница средних: -13 123 </a:t>
            </a:r>
          </a:p>
          <a:p>
            <a:r>
              <a:rPr lang="ru-RU" sz="2400" dirty="0">
                <a:solidFill>
                  <a:schemeClr val="bg1"/>
                </a:solidFill>
              </a:rPr>
              <a:t>95% доверительный интервал для разницы: [</a:t>
            </a:r>
            <a:r>
              <a:rPr lang="en-US" sz="2400" dirty="0">
                <a:solidFill>
                  <a:schemeClr val="bg1"/>
                </a:solidFill>
              </a:rPr>
              <a:t>-</a:t>
            </a:r>
            <a:r>
              <a:rPr lang="ru-RU" sz="2400" dirty="0">
                <a:solidFill>
                  <a:schemeClr val="bg1"/>
                </a:solidFill>
              </a:rPr>
              <a:t>14 063  ; </a:t>
            </a:r>
            <a:r>
              <a:rPr lang="en-US" sz="2400" dirty="0">
                <a:solidFill>
                  <a:schemeClr val="bg1"/>
                </a:solidFill>
              </a:rPr>
              <a:t>-</a:t>
            </a:r>
            <a:r>
              <a:rPr lang="ru-RU" sz="2400" dirty="0">
                <a:solidFill>
                  <a:schemeClr val="bg1"/>
                </a:solidFill>
              </a:rPr>
              <a:t>12 165 ]</a:t>
            </a:r>
          </a:p>
          <a:p>
            <a:endParaRPr lang="ru-RU" sz="24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rgbClr val="00B0F0"/>
                </a:solidFill>
              </a:rPr>
              <a:t>Вывод</a:t>
            </a:r>
            <a:r>
              <a:rPr lang="ru-RU" sz="2400" dirty="0">
                <a:solidFill>
                  <a:schemeClr val="bg1"/>
                </a:solidFill>
              </a:rPr>
              <a:t>: 95% доверительный интервал не содержит 0, следовательно, разница в прибыльности между категориями является статистически значимой.</a:t>
            </a:r>
          </a:p>
          <a:p>
            <a:r>
              <a:rPr lang="ru-RU" sz="2400" dirty="0">
                <a:solidFill>
                  <a:schemeClr val="bg1"/>
                </a:solidFill>
              </a:rPr>
              <a:t>Категория «Женщины 18</a:t>
            </a:r>
            <a:r>
              <a:rPr lang="en-US" sz="2400" dirty="0">
                <a:solidFill>
                  <a:schemeClr val="bg1"/>
                </a:solidFill>
              </a:rPr>
              <a:t>-</a:t>
            </a:r>
            <a:r>
              <a:rPr lang="ru-RU" sz="2400" dirty="0">
                <a:solidFill>
                  <a:schemeClr val="bg1"/>
                </a:solidFill>
              </a:rPr>
              <a:t>24 лет» демонстрирует более высокую прибыльность.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D59F11-D2A5-48A4-83D5-E10CFEAFC9BA}"/>
              </a:ext>
            </a:extLst>
          </p:cNvPr>
          <p:cNvSpPr txBox="1"/>
          <p:nvPr/>
        </p:nvSpPr>
        <p:spPr>
          <a:xfrm>
            <a:off x="622300" y="6452167"/>
            <a:ext cx="12420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0B0F0"/>
                </a:solidFill>
              </a:rPr>
              <a:t>Экономическая значимость</a:t>
            </a:r>
          </a:p>
          <a:p>
            <a:endParaRPr lang="ru-RU" sz="24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</a:rPr>
              <a:t>Экономическая значимость разницы</a:t>
            </a:r>
          </a:p>
          <a:p>
            <a:r>
              <a:rPr lang="ru-RU" sz="2400" dirty="0">
                <a:solidFill>
                  <a:schemeClr val="bg1"/>
                </a:solidFill>
              </a:rPr>
              <a:t>Разница в средней прибыли составляет </a:t>
            </a:r>
            <a:r>
              <a:rPr lang="en-US" sz="2400" dirty="0">
                <a:solidFill>
                  <a:schemeClr val="bg1"/>
                </a:solidFill>
              </a:rPr>
              <a:t>~</a:t>
            </a:r>
            <a:r>
              <a:rPr lang="ru-RU" sz="2400" dirty="0">
                <a:solidFill>
                  <a:schemeClr val="bg1"/>
                </a:solidFill>
              </a:rPr>
              <a:t>13 000 ₽ на одного клиента</a:t>
            </a:r>
          </a:p>
          <a:p>
            <a:r>
              <a:rPr lang="ru-RU" sz="2400" dirty="0">
                <a:solidFill>
                  <a:schemeClr val="bg1"/>
                </a:solidFill>
              </a:rPr>
              <a:t>При привлечении 1 000 клиентов разница в суммарной прибыли составляет</a:t>
            </a:r>
            <a:r>
              <a:rPr lang="en-US" sz="2400" dirty="0">
                <a:solidFill>
                  <a:schemeClr val="bg1"/>
                </a:solidFill>
              </a:rPr>
              <a:t> ~</a:t>
            </a:r>
            <a:r>
              <a:rPr lang="ru-RU" sz="2400" dirty="0">
                <a:solidFill>
                  <a:schemeClr val="bg1"/>
                </a:solidFill>
              </a:rPr>
              <a:t> 13 млн рублей</a:t>
            </a:r>
          </a:p>
          <a:p>
            <a:endParaRPr lang="ru-RU" sz="24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rgbClr val="00B0F0"/>
                </a:solidFill>
              </a:rPr>
              <a:t>Вывод</a:t>
            </a:r>
            <a:r>
              <a:rPr lang="ru-RU" sz="2400" dirty="0">
                <a:solidFill>
                  <a:schemeClr val="bg1"/>
                </a:solidFill>
              </a:rPr>
              <a:t>: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ru-RU" sz="2400" dirty="0">
                <a:solidFill>
                  <a:schemeClr val="bg1"/>
                </a:solidFill>
              </a:rPr>
              <a:t>разница является экономически значимой и существенно влияет на финансовый результат.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345557-B4C6-2F72-33C7-3B99E1C06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4900" y="1281155"/>
            <a:ext cx="4648200" cy="44035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AAC686-F306-6386-6E04-17E76CCB2518}"/>
              </a:ext>
            </a:extLst>
          </p:cNvPr>
          <p:cNvSpPr txBox="1"/>
          <p:nvPr/>
        </p:nvSpPr>
        <p:spPr>
          <a:xfrm>
            <a:off x="13817600" y="6115050"/>
            <a:ext cx="6019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00B0F0"/>
                </a:solidFill>
              </a:rPr>
              <a:t>Вывод</a:t>
            </a:r>
            <a:r>
              <a:rPr lang="ru-RU" sz="3600" dirty="0">
                <a:solidFill>
                  <a:schemeClr val="bg1"/>
                </a:solidFill>
              </a:rPr>
              <a:t>: Финансово выгоднее </a:t>
            </a:r>
          </a:p>
          <a:p>
            <a:r>
              <a:rPr lang="ru-RU" sz="3600" dirty="0">
                <a:solidFill>
                  <a:schemeClr val="bg1"/>
                </a:solidFill>
              </a:rPr>
              <a:t>и прибыльнее</a:t>
            </a:r>
          </a:p>
          <a:p>
            <a:r>
              <a:rPr lang="ru-RU" sz="3600" dirty="0">
                <a:solidFill>
                  <a:schemeClr val="bg1"/>
                </a:solidFill>
              </a:rPr>
              <a:t>выбирать категорию женщин 18-24</a:t>
            </a:r>
          </a:p>
        </p:txBody>
      </p:sp>
    </p:spTree>
    <p:extLst>
      <p:ext uri="{BB962C8B-B14F-4D97-AF65-F5344CB8AC3E}">
        <p14:creationId xmlns:p14="http://schemas.microsoft.com/office/powerpoint/2010/main" val="4048066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6FF98-339C-4993-1970-B5BE6A991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19DC14B-382B-02D2-011D-A95DC520EC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7405" y="291677"/>
            <a:ext cx="17854295" cy="989478"/>
          </a:xfrm>
          <a:prstGeom prst="rect">
            <a:avLst/>
          </a:prstGeom>
        </p:spPr>
        <p:txBody>
          <a:bodyPr vert="horz" wrap="square" lIns="0" tIns="156949" rIns="0" bIns="0" rtlCol="0">
            <a:spAutoFit/>
          </a:bodyPr>
          <a:lstStyle/>
          <a:p>
            <a:r>
              <a:rPr lang="ru-RU" sz="5400" dirty="0"/>
              <a:t>«Женщины 18</a:t>
            </a:r>
            <a:r>
              <a:rPr lang="en-US" sz="5400" dirty="0"/>
              <a:t>-</a:t>
            </a:r>
            <a:r>
              <a:rPr lang="ru-RU" sz="5400" dirty="0"/>
              <a:t>21 лет» и «Женщины 22</a:t>
            </a:r>
            <a:r>
              <a:rPr lang="en-US" sz="5400" dirty="0"/>
              <a:t>-</a:t>
            </a:r>
            <a:r>
              <a:rPr lang="ru-RU" sz="5400" dirty="0"/>
              <a:t>24 лет»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39F2AA-CA4C-C481-12D2-ED5A34AACEDF}"/>
              </a:ext>
            </a:extLst>
          </p:cNvPr>
          <p:cNvSpPr txBox="1"/>
          <p:nvPr/>
        </p:nvSpPr>
        <p:spPr>
          <a:xfrm>
            <a:off x="622300" y="1789169"/>
            <a:ext cx="1181100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0B0F0"/>
                </a:solidFill>
              </a:rPr>
              <a:t>Статистическая значимость разницы в прибыльности:</a:t>
            </a:r>
          </a:p>
          <a:p>
            <a:endParaRPr lang="ru-RU" sz="24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</a:rPr>
              <a:t>Для оценки различий в средней прибыльности между подкатегориями проведён </a:t>
            </a:r>
            <a:r>
              <a:rPr lang="ru-RU" sz="2400" dirty="0" err="1">
                <a:solidFill>
                  <a:schemeClr val="bg1"/>
                </a:solidFill>
              </a:rPr>
              <a:t>двухвыборочный</a:t>
            </a:r>
            <a:r>
              <a:rPr lang="ru-RU" sz="2400" dirty="0">
                <a:solidFill>
                  <a:schemeClr val="bg1"/>
                </a:solidFill>
              </a:rPr>
              <a:t> статистический тест.</a:t>
            </a:r>
          </a:p>
          <a:p>
            <a:r>
              <a:rPr lang="ru-RU" sz="2400" dirty="0">
                <a:solidFill>
                  <a:schemeClr val="bg1"/>
                </a:solidFill>
              </a:rPr>
              <a:t>Разница в прибыльности между категориями (статистически значима / незначима) при уровне значимости </a:t>
            </a:r>
            <a:r>
              <a:rPr lang="en-US" sz="2400" dirty="0">
                <a:solidFill>
                  <a:schemeClr val="bg1"/>
                </a:solidFill>
              </a:rPr>
              <a:t>a</a:t>
            </a:r>
            <a:r>
              <a:rPr lang="el-GR" sz="2400" dirty="0">
                <a:solidFill>
                  <a:schemeClr val="bg1"/>
                </a:solidFill>
              </a:rPr>
              <a:t> = 5%.</a:t>
            </a:r>
            <a:endParaRPr lang="ru-RU" sz="2400" dirty="0">
              <a:solidFill>
                <a:schemeClr val="bg1"/>
              </a:solidFill>
            </a:endParaRPr>
          </a:p>
          <a:p>
            <a:endParaRPr lang="el-GR" sz="24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rgbClr val="00B0F0"/>
                </a:solidFill>
              </a:rPr>
              <a:t>Проверка прибыльности привлечения клиентов:</a:t>
            </a:r>
          </a:p>
          <a:p>
            <a:endParaRPr lang="ru-RU" sz="2400" dirty="0">
              <a:solidFill>
                <a:srgbClr val="00B0F0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</a:rPr>
              <a:t>(стоимость привлечения одного клиента </a:t>
            </a:r>
            <a:r>
              <a:rPr lang="en" sz="2400" dirty="0">
                <a:solidFill>
                  <a:schemeClr val="bg1"/>
                </a:solidFill>
              </a:rPr>
              <a:t>=</a:t>
            </a:r>
            <a:r>
              <a:rPr lang="en-US" sz="2400" dirty="0">
                <a:solidFill>
                  <a:schemeClr val="bg1"/>
                </a:solidFill>
              </a:rPr>
              <a:t> cost =</a:t>
            </a:r>
            <a:r>
              <a:rPr lang="en" sz="2400" dirty="0">
                <a:solidFill>
                  <a:schemeClr val="bg1"/>
                </a:solidFill>
              </a:rPr>
              <a:t> 15 000 </a:t>
            </a:r>
            <a:r>
              <a:rPr lang="ru-RU" sz="2400" dirty="0">
                <a:solidFill>
                  <a:schemeClr val="bg1"/>
                </a:solidFill>
              </a:rPr>
              <a:t>)</a:t>
            </a:r>
          </a:p>
          <a:p>
            <a:r>
              <a:rPr lang="ru-RU" sz="2400" dirty="0">
                <a:solidFill>
                  <a:schemeClr val="bg1"/>
                </a:solidFill>
              </a:rPr>
              <a:t>Для подкатегории «Женщины 18</a:t>
            </a:r>
            <a:r>
              <a:rPr lang="en-US" sz="2400" dirty="0">
                <a:solidFill>
                  <a:schemeClr val="bg1"/>
                </a:solidFill>
              </a:rPr>
              <a:t>-</a:t>
            </a:r>
            <a:r>
              <a:rPr lang="ru-RU" sz="2400" dirty="0">
                <a:solidFill>
                  <a:schemeClr val="bg1"/>
                </a:solidFill>
              </a:rPr>
              <a:t>21 лет» проверена гипотеза превышения средней прибыли над </a:t>
            </a:r>
            <a:r>
              <a:rPr lang="en" sz="2400" dirty="0">
                <a:solidFill>
                  <a:schemeClr val="bg1"/>
                </a:solidFill>
              </a:rPr>
              <a:t>cost.</a:t>
            </a:r>
          </a:p>
          <a:p>
            <a:r>
              <a:rPr lang="ru-RU" sz="2400" dirty="0">
                <a:solidFill>
                  <a:schemeClr val="bg1"/>
                </a:solidFill>
              </a:rPr>
              <a:t>Для подкатегории «Женщины 22</a:t>
            </a:r>
            <a:r>
              <a:rPr lang="en-US" sz="2400" dirty="0">
                <a:solidFill>
                  <a:schemeClr val="bg1"/>
                </a:solidFill>
              </a:rPr>
              <a:t>-</a:t>
            </a:r>
            <a:r>
              <a:rPr lang="ru-RU" sz="2400" dirty="0">
                <a:solidFill>
                  <a:schemeClr val="bg1"/>
                </a:solidFill>
              </a:rPr>
              <a:t>24 лет» проверена гипотеза превышения средней прибыли над </a:t>
            </a:r>
            <a:r>
              <a:rPr lang="en" sz="2400" dirty="0">
                <a:solidFill>
                  <a:schemeClr val="bg1"/>
                </a:solidFill>
              </a:rPr>
              <a:t>cost.</a:t>
            </a:r>
          </a:p>
          <a:p>
            <a:endParaRPr lang="ru-RU" sz="24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rgbClr val="00B0F0"/>
                </a:solidFill>
              </a:rPr>
              <a:t>Выбор уровня значимости:</a:t>
            </a:r>
          </a:p>
          <a:p>
            <a:endParaRPr lang="ru-RU" sz="2400" dirty="0">
              <a:solidFill>
                <a:srgbClr val="00B0F0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</a:rPr>
              <a:t>Использован стандартный уровень значимости </a:t>
            </a:r>
            <a:r>
              <a:rPr lang="en-US" sz="2400" dirty="0">
                <a:solidFill>
                  <a:schemeClr val="bg1"/>
                </a:solidFill>
              </a:rPr>
              <a:t>a</a:t>
            </a:r>
            <a:r>
              <a:rPr lang="el-GR" sz="2400" dirty="0">
                <a:solidFill>
                  <a:schemeClr val="bg1"/>
                </a:solidFill>
              </a:rPr>
              <a:t> = 5%</a:t>
            </a:r>
            <a:endParaRPr lang="ru-RU" sz="24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</a:rPr>
              <a:t>Выполняется ограниченное число тестов, корректировка уровня значимости не требуется.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C1EA570-FC8B-AA81-F1EB-8316388B0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7600" y="1631930"/>
            <a:ext cx="4693126" cy="341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677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68B83-C34F-92ED-790D-B7AE34FD7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7E8E0B0-EB96-6C41-5AD5-D42AE60672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100" y="217369"/>
            <a:ext cx="19009995" cy="1081811"/>
          </a:xfrm>
          <a:prstGeom prst="rect">
            <a:avLst/>
          </a:prstGeom>
        </p:spPr>
        <p:txBody>
          <a:bodyPr vert="horz" wrap="square" lIns="0" tIns="156949" rIns="0" bIns="0" rtlCol="0">
            <a:spAutoFit/>
          </a:bodyPr>
          <a:lstStyle/>
          <a:p>
            <a:pPr marL="238125">
              <a:lnSpc>
                <a:spcPct val="100000"/>
              </a:lnSpc>
              <a:spcBef>
                <a:spcPts val="105"/>
              </a:spcBef>
            </a:pPr>
            <a:r>
              <a:rPr lang="ru-RU" sz="6000" dirty="0">
                <a:solidFill>
                  <a:srgbClr val="FFFFFF"/>
                </a:solidFill>
                <a:latin typeface="Trebuchet MS"/>
                <a:cs typeface="Trebuchet MS"/>
              </a:rPr>
              <a:t>Попарное сравнение в категории Женщины 18-24</a:t>
            </a:r>
            <a:endParaRPr sz="6000" dirty="0">
              <a:latin typeface="Trebuchet MS"/>
              <a:cs typeface="Trebuchet M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06435A-6817-4775-E493-573597444F0D}"/>
              </a:ext>
            </a:extLst>
          </p:cNvPr>
          <p:cNvSpPr txBox="1"/>
          <p:nvPr/>
        </p:nvSpPr>
        <p:spPr>
          <a:xfrm>
            <a:off x="1003300" y="1695450"/>
            <a:ext cx="13411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0B0F0"/>
                </a:solidFill>
              </a:rPr>
              <a:t>Результаты попарных сравнений</a:t>
            </a:r>
            <a:r>
              <a:rPr lang="ru-RU" sz="2400" dirty="0">
                <a:solidFill>
                  <a:schemeClr val="bg1"/>
                </a:solidFill>
              </a:rPr>
              <a:t>:</a:t>
            </a:r>
          </a:p>
          <a:p>
            <a:endParaRPr lang="ru-RU" sz="24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</a:rPr>
              <a:t>Было 21 попарное сравнение</a:t>
            </a:r>
          </a:p>
          <a:p>
            <a:r>
              <a:rPr lang="ru-RU" sz="2400" dirty="0">
                <a:solidFill>
                  <a:schemeClr val="bg1"/>
                </a:solidFill>
              </a:rPr>
              <a:t>При уровне значимости а</a:t>
            </a:r>
            <a:r>
              <a:rPr lang="el-GR" sz="2400" dirty="0">
                <a:solidFill>
                  <a:schemeClr val="bg1"/>
                </a:solidFill>
              </a:rPr>
              <a:t> = 5% </a:t>
            </a:r>
            <a:r>
              <a:rPr lang="ru-RU" sz="2400" dirty="0">
                <a:solidFill>
                  <a:schemeClr val="bg1"/>
                </a:solidFill>
              </a:rPr>
              <a:t>часть пар показывает значимые различия, часть </a:t>
            </a:r>
            <a:r>
              <a:rPr lang="en-US" sz="2400" dirty="0">
                <a:solidFill>
                  <a:schemeClr val="bg1"/>
                </a:solidFill>
              </a:rPr>
              <a:t>- </a:t>
            </a:r>
            <a:r>
              <a:rPr lang="ru-RU" sz="2400" dirty="0">
                <a:solidFill>
                  <a:schemeClr val="bg1"/>
                </a:solidFill>
              </a:rPr>
              <a:t>нет</a:t>
            </a:r>
          </a:p>
          <a:p>
            <a:r>
              <a:rPr lang="ru-RU" sz="2400" dirty="0">
                <a:solidFill>
                  <a:schemeClr val="bg1"/>
                </a:solidFill>
              </a:rPr>
              <a:t>(например, различия между 18</a:t>
            </a:r>
            <a:r>
              <a:rPr lang="en-US" sz="2400" dirty="0">
                <a:solidFill>
                  <a:schemeClr val="bg1"/>
                </a:solidFill>
              </a:rPr>
              <a:t>-</a:t>
            </a:r>
            <a:r>
              <a:rPr lang="ru-RU" sz="2400" dirty="0">
                <a:solidFill>
                  <a:schemeClr val="bg1"/>
                </a:solidFill>
              </a:rPr>
              <a:t>19 и 18</a:t>
            </a:r>
            <a:r>
              <a:rPr lang="en-US" sz="2400" dirty="0">
                <a:solidFill>
                  <a:schemeClr val="bg1"/>
                </a:solidFill>
              </a:rPr>
              <a:t>-</a:t>
            </a:r>
            <a:r>
              <a:rPr lang="ru-RU" sz="2400" dirty="0">
                <a:solidFill>
                  <a:schemeClr val="bg1"/>
                </a:solidFill>
              </a:rPr>
              <a:t>20 незначимы, тогда как между 18</a:t>
            </a:r>
            <a:r>
              <a:rPr lang="en-US" sz="2400" dirty="0">
                <a:solidFill>
                  <a:schemeClr val="bg1"/>
                </a:solidFill>
              </a:rPr>
              <a:t>-</a:t>
            </a:r>
            <a:r>
              <a:rPr lang="ru-RU" sz="2400" dirty="0">
                <a:solidFill>
                  <a:schemeClr val="bg1"/>
                </a:solidFill>
              </a:rPr>
              <a:t>21 и старшими возрастами </a:t>
            </a:r>
            <a:r>
              <a:rPr lang="en-US" sz="2400" dirty="0">
                <a:solidFill>
                  <a:schemeClr val="bg1"/>
                </a:solidFill>
              </a:rPr>
              <a:t>-</a:t>
            </a:r>
            <a:r>
              <a:rPr lang="ru-RU" sz="2400" dirty="0">
                <a:solidFill>
                  <a:schemeClr val="bg1"/>
                </a:solidFill>
              </a:rPr>
              <a:t> значимы)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F0B1A8-1977-3836-D0C8-CAE306671FE7}"/>
              </a:ext>
            </a:extLst>
          </p:cNvPr>
          <p:cNvSpPr txBox="1"/>
          <p:nvPr/>
        </p:nvSpPr>
        <p:spPr>
          <a:xfrm>
            <a:off x="1003300" y="4364460"/>
            <a:ext cx="131064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0B0F0"/>
                </a:solidFill>
              </a:rPr>
              <a:t>Выбор уровня значимости, минимальный детектируемый эффект:</a:t>
            </a:r>
          </a:p>
          <a:p>
            <a:endParaRPr lang="ru-RU" sz="24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</a:rPr>
              <a:t>При проведении попарных сравнений используется базовый уровень значимости</a:t>
            </a:r>
            <a:r>
              <a:rPr lang="en-US" sz="2400" dirty="0">
                <a:solidFill>
                  <a:schemeClr val="bg1"/>
                </a:solidFill>
              </a:rPr>
              <a:t> a</a:t>
            </a:r>
            <a:r>
              <a:rPr lang="el-GR" sz="2400" dirty="0">
                <a:solidFill>
                  <a:schemeClr val="bg1"/>
                </a:solidFill>
              </a:rPr>
              <a:t> = 5%</a:t>
            </a:r>
            <a:br>
              <a:rPr lang="ru-RU" sz="2400" dirty="0">
                <a:solidFill>
                  <a:schemeClr val="bg1"/>
                </a:solidFill>
              </a:rPr>
            </a:br>
            <a:r>
              <a:rPr lang="ru-RU" sz="2400" dirty="0">
                <a:solidFill>
                  <a:schemeClr val="bg1"/>
                </a:solidFill>
              </a:rPr>
              <a:t>Однако при выполнении большого числа тестов данный уровень приводит к росту вероятности ложноположительных результатов</a:t>
            </a:r>
          </a:p>
          <a:p>
            <a:r>
              <a:rPr lang="ru-RU" sz="2400" dirty="0">
                <a:solidFill>
                  <a:schemeClr val="bg1"/>
                </a:solidFill>
              </a:rPr>
              <a:t>Для корректной интерпретации результатов требуется учитывать множественность проверок и снижать уровень значимости</a:t>
            </a:r>
          </a:p>
          <a:p>
            <a:endParaRPr lang="ru-RU" sz="24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rgbClr val="00B0F0"/>
                </a:solidFill>
              </a:rPr>
              <a:t>Минимально детектируемый эффект</a:t>
            </a:r>
            <a:r>
              <a:rPr lang="ru-RU" sz="2400" dirty="0">
                <a:solidFill>
                  <a:schemeClr val="bg1"/>
                </a:solidFill>
              </a:rPr>
              <a:t>:</a:t>
            </a:r>
          </a:p>
          <a:p>
            <a:br>
              <a:rPr lang="ru-RU" sz="2400" dirty="0">
                <a:solidFill>
                  <a:schemeClr val="bg1"/>
                </a:solidFill>
              </a:rPr>
            </a:br>
            <a:r>
              <a:rPr lang="ru-RU" sz="2400" dirty="0">
                <a:solidFill>
                  <a:schemeClr val="bg1"/>
                </a:solidFill>
              </a:rPr>
              <a:t>При корректировке уровня значимости минимальный детектируемый эффект увеличивается</a:t>
            </a:r>
          </a:p>
          <a:p>
            <a:r>
              <a:rPr lang="ru-RU" sz="2400" dirty="0">
                <a:solidFill>
                  <a:schemeClr val="bg1"/>
                </a:solidFill>
              </a:rPr>
              <a:t>Мощность отдельных тестов снижается</a:t>
            </a:r>
          </a:p>
          <a:p>
            <a:endParaRPr lang="ru-RU" sz="24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</a:rPr>
              <a:t>Вывод: </a:t>
            </a:r>
          </a:p>
          <a:p>
            <a:r>
              <a:rPr lang="ru-RU" sz="2400" dirty="0">
                <a:solidFill>
                  <a:schemeClr val="bg1"/>
                </a:solidFill>
              </a:rPr>
              <a:t>Попарное сравнение возрастных подкатегорий «Женщины 18</a:t>
            </a:r>
            <a:r>
              <a:rPr lang="en-US" sz="2400" dirty="0">
                <a:solidFill>
                  <a:schemeClr val="bg1"/>
                </a:solidFill>
              </a:rPr>
              <a:t>-</a:t>
            </a:r>
            <a:r>
              <a:rPr lang="ru-RU" sz="2400" dirty="0">
                <a:solidFill>
                  <a:schemeClr val="bg1"/>
                </a:solidFill>
              </a:rPr>
              <a:t>24 лет» приводит к множественным неоднозначным результатам и не является надёжной основой для принятия бизнес-решений.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8BF33C5-2582-9208-A9AF-D2AD62558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2700" y="1695449"/>
            <a:ext cx="3886200" cy="8576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613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CE1AB-967B-7A27-6738-53414641A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4F21847-F54F-9D86-6C68-BF416976BB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100" y="217369"/>
            <a:ext cx="19009995" cy="1081811"/>
          </a:xfrm>
          <a:prstGeom prst="rect">
            <a:avLst/>
          </a:prstGeom>
        </p:spPr>
        <p:txBody>
          <a:bodyPr vert="horz" wrap="square" lIns="0" tIns="156949" rIns="0" bIns="0" rtlCol="0">
            <a:spAutoFit/>
          </a:bodyPr>
          <a:lstStyle/>
          <a:p>
            <a:pPr marL="238125">
              <a:lnSpc>
                <a:spcPct val="100000"/>
              </a:lnSpc>
              <a:spcBef>
                <a:spcPts val="105"/>
              </a:spcBef>
            </a:pPr>
            <a:r>
              <a:rPr lang="ru-RU" sz="6000" dirty="0">
                <a:solidFill>
                  <a:srgbClr val="FFFFFF"/>
                </a:solidFill>
                <a:latin typeface="Trebuchet MS"/>
                <a:cs typeface="Trebuchet MS"/>
              </a:rPr>
              <a:t>Попарное сравнение в категории Мужчины 18-24</a:t>
            </a:r>
            <a:endParaRPr sz="6000" dirty="0">
              <a:latin typeface="Trebuchet MS"/>
              <a:cs typeface="Trebuchet M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AF06D8-8204-62C6-B172-634B9F123AE5}"/>
              </a:ext>
            </a:extLst>
          </p:cNvPr>
          <p:cNvSpPr txBox="1"/>
          <p:nvPr/>
        </p:nvSpPr>
        <p:spPr>
          <a:xfrm>
            <a:off x="1003300" y="1677658"/>
            <a:ext cx="13411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0B0F0"/>
                </a:solidFill>
              </a:rPr>
              <a:t>Результаты попарных сравнений</a:t>
            </a:r>
            <a:r>
              <a:rPr lang="ru-RU" sz="2400" dirty="0">
                <a:solidFill>
                  <a:schemeClr val="bg1"/>
                </a:solidFill>
              </a:rPr>
              <a:t>:</a:t>
            </a:r>
          </a:p>
          <a:p>
            <a:endParaRPr lang="ru-RU" sz="24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</a:rPr>
              <a:t>Для 7 возрастных подкатегорий выполнено 21 попарное сравнение</a:t>
            </a:r>
          </a:p>
          <a:p>
            <a:r>
              <a:rPr lang="ru-RU" sz="2400" dirty="0">
                <a:solidFill>
                  <a:schemeClr val="bg1"/>
                </a:solidFill>
              </a:rPr>
              <a:t>При уровне значимости </a:t>
            </a:r>
            <a:r>
              <a:rPr lang="el-GR" sz="2400" dirty="0">
                <a:solidFill>
                  <a:schemeClr val="bg1"/>
                </a:solidFill>
              </a:rPr>
              <a:t>α = 5%:</a:t>
            </a:r>
            <a:r>
              <a:rPr lang="ru-RU" sz="2400" dirty="0">
                <a:solidFill>
                  <a:schemeClr val="bg1"/>
                </a:solidFill>
              </a:rPr>
              <a:t> для части пар различия статистически значимы</a:t>
            </a:r>
          </a:p>
          <a:p>
            <a:r>
              <a:rPr lang="ru-RU" sz="2400" dirty="0">
                <a:solidFill>
                  <a:schemeClr val="bg1"/>
                </a:solidFill>
              </a:rPr>
              <a:t>(например, между 18</a:t>
            </a:r>
            <a:r>
              <a:rPr lang="en-US" sz="2400" dirty="0">
                <a:solidFill>
                  <a:schemeClr val="bg1"/>
                </a:solidFill>
              </a:rPr>
              <a:t>-</a:t>
            </a:r>
            <a:r>
              <a:rPr lang="ru-RU" sz="2400" dirty="0">
                <a:solidFill>
                  <a:schemeClr val="bg1"/>
                </a:solidFill>
              </a:rPr>
              <a:t>21, 18</a:t>
            </a:r>
            <a:r>
              <a:rPr lang="en-US" sz="2400" dirty="0">
                <a:solidFill>
                  <a:schemeClr val="bg1"/>
                </a:solidFill>
              </a:rPr>
              <a:t>-</a:t>
            </a:r>
            <a:r>
              <a:rPr lang="ru-RU" sz="2400" dirty="0">
                <a:solidFill>
                  <a:schemeClr val="bg1"/>
                </a:solidFill>
              </a:rPr>
              <a:t>22, 19</a:t>
            </a:r>
            <a:r>
              <a:rPr lang="en-US" sz="2400" dirty="0">
                <a:solidFill>
                  <a:schemeClr val="bg1"/>
                </a:solidFill>
              </a:rPr>
              <a:t>-</a:t>
            </a:r>
            <a:r>
              <a:rPr lang="ru-RU" sz="2400" dirty="0">
                <a:solidFill>
                  <a:schemeClr val="bg1"/>
                </a:solidFill>
              </a:rPr>
              <a:t>21, 20</a:t>
            </a:r>
            <a:r>
              <a:rPr lang="en-US" sz="2400" dirty="0">
                <a:solidFill>
                  <a:schemeClr val="bg1"/>
                </a:solidFill>
              </a:rPr>
              <a:t>-</a:t>
            </a:r>
            <a:r>
              <a:rPr lang="ru-RU" sz="2400" dirty="0">
                <a:solidFill>
                  <a:schemeClr val="bg1"/>
                </a:solidFill>
              </a:rPr>
              <a:t>22); для других пар значимых различий не обнаружено (например, 18</a:t>
            </a:r>
            <a:r>
              <a:rPr lang="en-US" sz="2400" dirty="0">
                <a:solidFill>
                  <a:schemeClr val="bg1"/>
                </a:solidFill>
              </a:rPr>
              <a:t>-</a:t>
            </a:r>
            <a:r>
              <a:rPr lang="ru-RU" sz="2400" dirty="0">
                <a:solidFill>
                  <a:schemeClr val="bg1"/>
                </a:solidFill>
              </a:rPr>
              <a:t>19, 21</a:t>
            </a:r>
            <a:r>
              <a:rPr lang="en-US" sz="2400" dirty="0">
                <a:solidFill>
                  <a:schemeClr val="bg1"/>
                </a:solidFill>
              </a:rPr>
              <a:t>-</a:t>
            </a:r>
            <a:r>
              <a:rPr lang="ru-RU" sz="2400" dirty="0">
                <a:solidFill>
                  <a:schemeClr val="bg1"/>
                </a:solidFill>
              </a:rPr>
              <a:t>24, 22</a:t>
            </a:r>
            <a:r>
              <a:rPr lang="en-US" sz="2400" dirty="0">
                <a:solidFill>
                  <a:schemeClr val="bg1"/>
                </a:solidFill>
              </a:rPr>
              <a:t>-</a:t>
            </a:r>
            <a:r>
              <a:rPr lang="ru-RU" sz="2400" dirty="0">
                <a:solidFill>
                  <a:schemeClr val="bg1"/>
                </a:solidFill>
              </a:rPr>
              <a:t>23)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16242D-B5F9-91B5-E6FB-E6F900B04101}"/>
              </a:ext>
            </a:extLst>
          </p:cNvPr>
          <p:cNvSpPr txBox="1"/>
          <p:nvPr/>
        </p:nvSpPr>
        <p:spPr>
          <a:xfrm>
            <a:off x="1003300" y="4210050"/>
            <a:ext cx="134112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0B0F0"/>
                </a:solidFill>
              </a:rPr>
              <a:t>Выбор уровня значимости, минимальный детектируемый эффект:</a:t>
            </a:r>
          </a:p>
          <a:p>
            <a:endParaRPr lang="ru-RU" sz="24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</a:rPr>
              <a:t>При проведении попарных сравнений используется базовый уровень значимости </a:t>
            </a:r>
            <a:r>
              <a:rPr lang="en-US" sz="2400" dirty="0">
                <a:solidFill>
                  <a:schemeClr val="bg1"/>
                </a:solidFill>
              </a:rPr>
              <a:t>a</a:t>
            </a:r>
            <a:r>
              <a:rPr lang="el-GR" sz="2400" dirty="0">
                <a:solidFill>
                  <a:schemeClr val="bg1"/>
                </a:solidFill>
              </a:rPr>
              <a:t> = 5%</a:t>
            </a:r>
            <a:br>
              <a:rPr lang="ru-RU" sz="2400" dirty="0">
                <a:solidFill>
                  <a:schemeClr val="bg1"/>
                </a:solidFill>
              </a:rPr>
            </a:br>
            <a:r>
              <a:rPr lang="ru-RU" sz="2400" dirty="0">
                <a:solidFill>
                  <a:schemeClr val="bg1"/>
                </a:solidFill>
              </a:rPr>
              <a:t>Однако при выполнении большого числа тестов данный уровень приводит к росту вероятности ложноположительных результатов</a:t>
            </a:r>
          </a:p>
          <a:p>
            <a:r>
              <a:rPr lang="ru-RU" sz="2400" dirty="0">
                <a:solidFill>
                  <a:schemeClr val="bg1"/>
                </a:solidFill>
              </a:rPr>
              <a:t>Для корректной интерпретации результатов требуется учитывать множественность проверок и снижать уровень значимости</a:t>
            </a:r>
          </a:p>
          <a:p>
            <a:endParaRPr lang="ru-RU" sz="24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rgbClr val="00B0F0"/>
                </a:solidFill>
              </a:rPr>
              <a:t>Минимально детектируемый эффект</a:t>
            </a:r>
            <a:r>
              <a:rPr lang="ru-RU" sz="2400" dirty="0">
                <a:solidFill>
                  <a:schemeClr val="bg1"/>
                </a:solidFill>
              </a:rPr>
              <a:t>:</a:t>
            </a:r>
          </a:p>
          <a:p>
            <a:br>
              <a:rPr lang="ru-RU" sz="2400" dirty="0">
                <a:solidFill>
                  <a:schemeClr val="bg1"/>
                </a:solidFill>
              </a:rPr>
            </a:br>
            <a:r>
              <a:rPr lang="ru-RU" sz="2400" dirty="0">
                <a:solidFill>
                  <a:schemeClr val="bg1"/>
                </a:solidFill>
              </a:rPr>
              <a:t>При корректировке уровня значимости минимальный детектируемый эффект увеличивается</a:t>
            </a:r>
          </a:p>
          <a:p>
            <a:r>
              <a:rPr lang="ru-RU" sz="2400" dirty="0">
                <a:solidFill>
                  <a:schemeClr val="bg1"/>
                </a:solidFill>
              </a:rPr>
              <a:t>Мощность отдельных тестов снижается</a:t>
            </a:r>
          </a:p>
          <a:p>
            <a:endParaRPr lang="ru-RU" sz="24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</a:rPr>
              <a:t>Вывод: </a:t>
            </a:r>
          </a:p>
          <a:p>
            <a:r>
              <a:rPr lang="ru-RU" sz="2400" dirty="0">
                <a:solidFill>
                  <a:schemeClr val="bg1"/>
                </a:solidFill>
              </a:rPr>
              <a:t>Попарное сравнение возрастных подкатегорий «Мужчины 18</a:t>
            </a:r>
            <a:r>
              <a:rPr lang="en-US" sz="2400" dirty="0">
                <a:solidFill>
                  <a:schemeClr val="bg1"/>
                </a:solidFill>
              </a:rPr>
              <a:t>-</a:t>
            </a:r>
            <a:r>
              <a:rPr lang="ru-RU" sz="2400" dirty="0">
                <a:solidFill>
                  <a:schemeClr val="bg1"/>
                </a:solidFill>
              </a:rPr>
              <a:t>24 лет» приводит к множественным неоднозначным результатам и не является надёжной основой для принятия бизнес-решений.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A0B8379-2D86-DF40-0002-470AF66FE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9378" y="1695450"/>
            <a:ext cx="3650426" cy="867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435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7405" y="291677"/>
            <a:ext cx="16583025" cy="1139777"/>
          </a:xfrm>
          <a:prstGeom prst="rect">
            <a:avLst/>
          </a:prstGeom>
        </p:spPr>
        <p:txBody>
          <a:bodyPr vert="horz" wrap="square" lIns="0" tIns="1381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“Золотая</a:t>
            </a:r>
            <a:r>
              <a:rPr spc="-150" dirty="0"/>
              <a:t> </a:t>
            </a:r>
            <a:r>
              <a:rPr dirty="0"/>
              <a:t>жила“</a:t>
            </a:r>
            <a:r>
              <a:rPr spc="-155" dirty="0"/>
              <a:t> </a:t>
            </a:r>
            <a:endParaRPr spc="-2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44EEF16-517D-AA52-BC28-0240E816A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900" y="2305050"/>
            <a:ext cx="8355305" cy="4191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0A77470-875C-C294-2637-346BF45FAA55}"/>
              </a:ext>
            </a:extLst>
          </p:cNvPr>
          <p:cNvSpPr txBox="1"/>
          <p:nvPr/>
        </p:nvSpPr>
        <p:spPr>
          <a:xfrm>
            <a:off x="1003300" y="1771650"/>
            <a:ext cx="983818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0B0F0"/>
                </a:solidFill>
              </a:rPr>
              <a:t>Результаты анализа:</a:t>
            </a:r>
          </a:p>
          <a:p>
            <a:endParaRPr lang="ru-RU" sz="2400" dirty="0">
              <a:solidFill>
                <a:srgbClr val="00B0F0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</a:rPr>
              <a:t>Наибольшую среднюю прибыль демонстрирует категория:</a:t>
            </a:r>
          </a:p>
          <a:p>
            <a:r>
              <a:rPr lang="ru-RU" sz="2400" dirty="0">
                <a:solidFill>
                  <a:schemeClr val="bg1"/>
                </a:solidFill>
              </a:rPr>
              <a:t>	Мужчины 23 лет</a:t>
            </a:r>
          </a:p>
          <a:p>
            <a:r>
              <a:rPr lang="ru-RU" sz="2400" dirty="0">
                <a:solidFill>
                  <a:schemeClr val="bg1"/>
                </a:solidFill>
              </a:rPr>
              <a:t>	Средняя прибыль: </a:t>
            </a:r>
            <a:r>
              <a:rPr lang="en-US" sz="2400" dirty="0">
                <a:solidFill>
                  <a:schemeClr val="bg1"/>
                </a:solidFill>
              </a:rPr>
              <a:t>~</a:t>
            </a:r>
            <a:r>
              <a:rPr lang="ru-RU" sz="2400" dirty="0">
                <a:solidFill>
                  <a:schemeClr val="bg1"/>
                </a:solidFill>
              </a:rPr>
              <a:t> 80 548 ₽</a:t>
            </a:r>
          </a:p>
          <a:p>
            <a:r>
              <a:rPr lang="ru-RU" sz="2400" dirty="0">
                <a:solidFill>
                  <a:schemeClr val="bg1"/>
                </a:solidFill>
              </a:rPr>
              <a:t>	Количество клиентов в категории: 85</a:t>
            </a:r>
          </a:p>
          <a:p>
            <a:r>
              <a:rPr lang="ru-RU" sz="2400" dirty="0">
                <a:solidFill>
                  <a:schemeClr val="bg1"/>
                </a:solidFill>
              </a:rPr>
              <a:t>Данная категория превосходит по средней прибыльности все остальные рассмотренные половозрастные категории.</a:t>
            </a:r>
          </a:p>
          <a:p>
            <a:endParaRPr lang="ru-RU" sz="24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</a:rPr>
              <a:t>Вывод: категория «Мужчины 23 лет» является «золотой жилой» - сегментом клиентов с наивысшей средней прибыльностью и достаточным числом наблюдений для анализа.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CEF21-BB1F-234B-79AD-E8D3BE4FC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30D4E6F-7FCA-7112-DEDD-7841D9A96B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7405" y="291677"/>
            <a:ext cx="16583025" cy="1139777"/>
          </a:xfrm>
          <a:prstGeom prst="rect">
            <a:avLst/>
          </a:prstGeom>
        </p:spPr>
        <p:txBody>
          <a:bodyPr vert="horz" wrap="square" lIns="0" tIns="1381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“Золотая</a:t>
            </a:r>
            <a:r>
              <a:rPr spc="-150" dirty="0"/>
              <a:t> </a:t>
            </a:r>
            <a:r>
              <a:rPr dirty="0"/>
              <a:t>жила“</a:t>
            </a:r>
            <a:r>
              <a:rPr spc="-155" dirty="0"/>
              <a:t> </a:t>
            </a:r>
            <a:endParaRPr spc="-2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D4E2182-E33D-B64C-4AD9-D932DD9BF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4257" y="3143250"/>
            <a:ext cx="8089900" cy="405787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3FB45EC-C7D4-A6FA-85B5-CEB068BBA1DB}"/>
              </a:ext>
            </a:extLst>
          </p:cNvPr>
          <p:cNvSpPr txBox="1"/>
          <p:nvPr/>
        </p:nvSpPr>
        <p:spPr>
          <a:xfrm>
            <a:off x="1003300" y="1771650"/>
            <a:ext cx="9838187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0B0F0"/>
                </a:solidFill>
              </a:rPr>
              <a:t>Результаты анализа:</a:t>
            </a:r>
          </a:p>
          <a:p>
            <a:endParaRPr lang="ru-RU" sz="2400" dirty="0">
              <a:solidFill>
                <a:srgbClr val="00B0F0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</a:rPr>
              <a:t>Для оценки различий в средней прибыльности между категориями проведён </a:t>
            </a:r>
            <a:r>
              <a:rPr lang="ru-RU" sz="2400" dirty="0" err="1">
                <a:solidFill>
                  <a:schemeClr val="bg1"/>
                </a:solidFill>
              </a:rPr>
              <a:t>двухвыборочный</a:t>
            </a:r>
            <a:r>
              <a:rPr lang="ru-RU" sz="2400" dirty="0">
                <a:solidFill>
                  <a:schemeClr val="bg1"/>
                </a:solidFill>
              </a:rPr>
              <a:t> статистический тест.</a:t>
            </a:r>
          </a:p>
          <a:p>
            <a:endParaRPr lang="ru-RU" sz="24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</a:rPr>
              <a:t>Средняя прибыль:</a:t>
            </a:r>
          </a:p>
          <a:p>
            <a:r>
              <a:rPr lang="ru-RU" sz="2400" dirty="0">
                <a:solidFill>
                  <a:schemeClr val="bg1"/>
                </a:solidFill>
              </a:rPr>
              <a:t>«Золотая жила» (Мужчины 23 лет): </a:t>
            </a:r>
            <a:r>
              <a:rPr lang="en-US" sz="2400" dirty="0">
                <a:solidFill>
                  <a:schemeClr val="bg1"/>
                </a:solidFill>
              </a:rPr>
              <a:t>~</a:t>
            </a:r>
            <a:r>
              <a:rPr lang="ru-RU" sz="2400" dirty="0">
                <a:solidFill>
                  <a:schemeClr val="bg1"/>
                </a:solidFill>
              </a:rPr>
              <a:t> 80 548 ₽</a:t>
            </a:r>
          </a:p>
          <a:p>
            <a:r>
              <a:rPr lang="ru-RU" sz="2400" dirty="0">
                <a:solidFill>
                  <a:schemeClr val="bg1"/>
                </a:solidFill>
              </a:rPr>
              <a:t>Женщины 18–24 лет: </a:t>
            </a:r>
            <a:r>
              <a:rPr lang="en-US" sz="2400" dirty="0">
                <a:solidFill>
                  <a:schemeClr val="bg1"/>
                </a:solidFill>
              </a:rPr>
              <a:t>~ </a:t>
            </a:r>
            <a:r>
              <a:rPr lang="ru-RU" sz="2400" dirty="0">
                <a:solidFill>
                  <a:schemeClr val="bg1"/>
                </a:solidFill>
              </a:rPr>
              <a:t>26 278 ₽</a:t>
            </a:r>
          </a:p>
          <a:p>
            <a:endParaRPr lang="ru-RU" sz="24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</a:rPr>
              <a:t>Разница в прибыльности является статистически значимой при уровне значимости </a:t>
            </a:r>
            <a:r>
              <a:rPr lang="en-US" sz="2400" dirty="0">
                <a:solidFill>
                  <a:schemeClr val="bg1"/>
                </a:solidFill>
              </a:rPr>
              <a:t>a</a:t>
            </a:r>
            <a:r>
              <a:rPr lang="el-GR" sz="2400" dirty="0">
                <a:solidFill>
                  <a:schemeClr val="bg1"/>
                </a:solidFill>
              </a:rPr>
              <a:t> = 5%.</a:t>
            </a:r>
            <a:endParaRPr lang="ru-RU" sz="2400" dirty="0">
              <a:solidFill>
                <a:schemeClr val="bg1"/>
              </a:solidFill>
            </a:endParaRPr>
          </a:p>
          <a:p>
            <a:endParaRPr lang="ru-RU" sz="24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rgbClr val="00B0F0"/>
                </a:solidFill>
              </a:rPr>
              <a:t>Вывод:</a:t>
            </a:r>
          </a:p>
          <a:p>
            <a:r>
              <a:rPr lang="ru-RU" sz="2400" dirty="0">
                <a:solidFill>
                  <a:schemeClr val="bg1"/>
                </a:solidFill>
              </a:rPr>
              <a:t>Категория «Золотая жила» (Мужчины 23 лет) демонстрирует статистически значимо более высокую прибыльность по сравнению с категорией «Женщины 18-24 лет».</a:t>
            </a:r>
          </a:p>
        </p:txBody>
      </p:sp>
    </p:spTree>
    <p:extLst>
      <p:ext uri="{BB962C8B-B14F-4D97-AF65-F5344CB8AC3E}">
        <p14:creationId xmlns:p14="http://schemas.microsoft.com/office/powerpoint/2010/main" val="1582858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0258" y="859024"/>
            <a:ext cx="18189646" cy="94864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949818" y="4526343"/>
            <a:ext cx="3953510" cy="197485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54305" marR="5080" indent="-142240">
              <a:lnSpc>
                <a:spcPts val="7509"/>
              </a:lnSpc>
              <a:spcBef>
                <a:spcPts val="525"/>
              </a:spcBef>
            </a:pPr>
            <a:r>
              <a:rPr dirty="0"/>
              <a:t>Спасибо</a:t>
            </a:r>
            <a:r>
              <a:rPr spc="-105" dirty="0"/>
              <a:t> </a:t>
            </a:r>
            <a:r>
              <a:rPr spc="-25" dirty="0"/>
              <a:t>за </a:t>
            </a:r>
            <a:r>
              <a:rPr spc="-10" dirty="0"/>
              <a:t>внимание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</TotalTime>
  <Words>898</Words>
  <Application>Microsoft Macintosh PowerPoint</Application>
  <PresentationFormat>Произвольный</PresentationFormat>
  <Paragraphs>120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Trebuchet MS</vt:lpstr>
      <vt:lpstr>Office Theme</vt:lpstr>
      <vt:lpstr>Кейс “Золотая жила-2”</vt:lpstr>
      <vt:lpstr>Проверка на наличие выбросов</vt:lpstr>
      <vt:lpstr>Выбросы и пропуски</vt:lpstr>
      <vt:lpstr>Текущая ситуация </vt:lpstr>
      <vt:lpstr>«Мужчины 18-24 лет» и «Женщины 18-24 лет»</vt:lpstr>
      <vt:lpstr>«Женщины 18-21 лет» и «Женщины 22-24 лет»</vt:lpstr>
      <vt:lpstr>Попарное сравнение в категории Женщины 18-24</vt:lpstr>
      <vt:lpstr>Попарное сравнение в категории Мужчины 18-24</vt:lpstr>
      <vt:lpstr>“Золотая жила“ </vt:lpstr>
      <vt:lpstr>“Золотая жила“ 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Lvov Alex</cp:lastModifiedBy>
  <cp:revision>1</cp:revision>
  <dcterms:created xsi:type="dcterms:W3CDTF">2025-12-21T14:41:59Z</dcterms:created>
  <dcterms:modified xsi:type="dcterms:W3CDTF">2025-12-21T18:19:12Z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2025-10-12T00:00:00Z</vt:filetime>
  </property>
  <property fmtid="{D5CDD505-2E9C-101B-9397-08002B2CF9AE}" pid="3" name="LastSaved">
    <vt:filetime>2025-12-21T00:00:00Z</vt:filetime>
  </property>
</Properties>
</file>