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7f8c7d9a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7f8c7d9a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8f34c4ea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8f34c4ea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7f8c7d9a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7f8c7d9a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7f8c7d9a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7f8c7d9a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8f34c4ea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8f34c4ea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8f34c4ea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8f34c4ea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8f34c4ea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8f34c4ea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8f34c4ea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8f34c4ea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f34c4ea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8f34c4ea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8f34c4ea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8f34c4ea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8f34c4ea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8f34c4ea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8f34c4ea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8f34c4ea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8f34c4ea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8f34c4ea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Кейс - “Проходной порог”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78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Львов Алексей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Предпосылки и постановка задач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Задача: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Определить минимальный проходной порог , при котором сильный кандидат проходит тест с вероятностью не менее 80%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Условия теста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ru" sz="1200">
                <a:solidFill>
                  <a:schemeClr val="dk1"/>
                </a:solidFill>
              </a:rPr>
              <a:t>Тест состоит из 20 вопросов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ru" sz="1200">
                <a:solidFill>
                  <a:schemeClr val="dk1"/>
                </a:solidFill>
              </a:rPr>
              <a:t>Уровень сложности: «как на работе»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ru" sz="1200">
                <a:solidFill>
                  <a:schemeClr val="dk1"/>
                </a:solidFill>
              </a:rPr>
              <a:t>Вероятность правильного ответа на один вопрос: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ru" sz="1200">
                <a:solidFill>
                  <a:schemeClr val="dk1"/>
                </a:solidFill>
              </a:rPr>
              <a:t>сильный кандидат - 98%,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ru" sz="1200">
                <a:solidFill>
                  <a:schemeClr val="dk1"/>
                </a:solidFill>
              </a:rPr>
              <a:t>слабый кандидат - 90%</a:t>
            </a:r>
            <a:endParaRPr b="1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8125" y="2336701"/>
            <a:ext cx="3523275" cy="178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144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Обоснование проходного порога для теста из 20 вопросов, уровень как на работе</a:t>
            </a:r>
            <a:endParaRPr b="1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8500" y="1078200"/>
            <a:ext cx="4820749" cy="399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25" y="1528900"/>
            <a:ext cx="4056476" cy="13417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223325" y="2976725"/>
            <a:ext cx="3886800" cy="34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Вывод: из дата фрейма мы видим, что чтобы отсеять слабых кандидатов и при этом отобрать сильных с вероятностью прохождения порога не менее 0,8 (80%), нам нужно установить порог в 19 правильных ответов из 20 возможных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20550" y="453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Предпосылки и постановка задач</a:t>
            </a:r>
            <a:endParaRPr b="1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161450" y="1355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64">
                <a:solidFill>
                  <a:schemeClr val="dk1"/>
                </a:solidFill>
              </a:rPr>
              <a:t>Уровень сложности «Как на работе» - в терминах вероятностей:</a:t>
            </a:r>
            <a:endParaRPr b="1" sz="1464">
              <a:solidFill>
                <a:schemeClr val="dk1"/>
              </a:solidFill>
            </a:endParaRPr>
          </a:p>
          <a:p>
            <a:pPr indent="-32158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64"/>
              <a:buChar char="●"/>
            </a:pPr>
            <a:r>
              <a:rPr b="1" lang="ru" sz="1464">
                <a:solidFill>
                  <a:schemeClr val="dk1"/>
                </a:solidFill>
              </a:rPr>
              <a:t>Сильный кандидат отвечает правильно на каждый вопрос с вероятностью 0.98;</a:t>
            </a:r>
            <a:endParaRPr b="1" sz="1464">
              <a:solidFill>
                <a:schemeClr val="dk1"/>
              </a:solidFill>
            </a:endParaRPr>
          </a:p>
          <a:p>
            <a:pPr indent="-32158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4"/>
              <a:buChar char="●"/>
            </a:pPr>
            <a:r>
              <a:rPr b="1" lang="ru" sz="1464">
                <a:solidFill>
                  <a:schemeClr val="dk1"/>
                </a:solidFill>
              </a:rPr>
              <a:t>Слабый кандидат отвечает правильно на каждый вопрос с вероятностью 0.90;</a:t>
            </a:r>
            <a:endParaRPr b="1" sz="1464">
              <a:solidFill>
                <a:schemeClr val="dk1"/>
              </a:solidFill>
            </a:endParaRPr>
          </a:p>
          <a:p>
            <a:pPr indent="-32158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4"/>
              <a:buChar char="●"/>
            </a:pPr>
            <a:r>
              <a:rPr b="1" lang="ru" sz="1464">
                <a:solidFill>
                  <a:schemeClr val="dk1"/>
                </a:solidFill>
              </a:rPr>
              <a:t>Ответы независимы между собой </a:t>
            </a:r>
            <a:endParaRPr b="1" sz="146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31">
                <a:solidFill>
                  <a:schemeClr val="dk1"/>
                </a:solidFill>
              </a:rPr>
              <a:t>Требование к числу вопросов теста и проходному порогу:</a:t>
            </a:r>
            <a:endParaRPr b="1" sz="1431">
              <a:solidFill>
                <a:schemeClr val="dk1"/>
              </a:solidFill>
            </a:endParaRPr>
          </a:p>
          <a:p>
            <a:pPr indent="-319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1"/>
              <a:buChar char="●"/>
            </a:pPr>
            <a:r>
              <a:rPr b="1" lang="ru" sz="1431">
                <a:solidFill>
                  <a:schemeClr val="dk1"/>
                </a:solidFill>
              </a:rPr>
              <a:t>Вероятность прохождения теста сильным кандидатом должна быть не меньше 80%;</a:t>
            </a:r>
            <a:endParaRPr b="1" sz="1431">
              <a:solidFill>
                <a:schemeClr val="dk1"/>
              </a:solidFill>
            </a:endParaRPr>
          </a:p>
          <a:p>
            <a:pPr indent="-319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1"/>
              <a:buChar char="●"/>
            </a:pPr>
            <a:r>
              <a:rPr b="1" lang="ru" sz="1431">
                <a:solidFill>
                  <a:schemeClr val="dk1"/>
                </a:solidFill>
              </a:rPr>
              <a:t>Вероятность исключения слабого кандидата - хотя бы 70%</a:t>
            </a:r>
            <a:endParaRPr b="1" sz="143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53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Уровень ‘как на работе</a:t>
            </a:r>
            <a:r>
              <a:rPr b="1" lang="ru"/>
              <a:t>'</a:t>
            </a:r>
            <a:endParaRPr b="1"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4" y="1152475"/>
            <a:ext cx="3613349" cy="34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7453" y="1170125"/>
            <a:ext cx="4584081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Вывод для уровня ‘как на работе’</a:t>
            </a:r>
            <a:endParaRPr b="1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По найденным значениям видно, что минимальное количество вопросов, при котором одновременно выполняются оба условия — прохождение сильным кандидатом ≥ 80% и исключение слабого ≥ 70%, — составляют 24 вопроса при пороге 23 правильных ответа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Увеличение количества вопросов повышает вероятность исключения слабого кандидата, но одновременно снижает вероятность прохождения сильным. Поэтому 24 вопроса и порог 23 представляют собой минимальный и наиболее подходящий вариант, который удовлетворяет требованиям</a:t>
            </a:r>
            <a:endParaRPr b="1"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Уровень ‘проще чем на работе’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Уровень сложности «Проще, чем на работе» — в терминах вероятностей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</a:rPr>
              <a:t>Сильный кандидат отвечает правильно на каждый вопрос с вероятностью 0.99;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</a:rPr>
              <a:t>Слабый кандидат отвечает правильно на каждый вопрос с вероятностью 0.95;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</a:rPr>
              <a:t>Ответы по разным вопросам считаются независимыми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Условия теста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ru" sz="1200">
                <a:solidFill>
                  <a:schemeClr val="dk1"/>
                </a:solidFill>
              </a:rPr>
              <a:t>Уровень сложности: «как на работе»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ru" sz="1200">
                <a:solidFill>
                  <a:schemeClr val="dk1"/>
                </a:solidFill>
              </a:rPr>
              <a:t>Вероятность правильного ответа на один вопрос: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ru" sz="1200">
                <a:solidFill>
                  <a:schemeClr val="dk1"/>
                </a:solidFill>
              </a:rPr>
              <a:t>сильный кандидат - 99%,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ru" sz="1200">
                <a:solidFill>
                  <a:schemeClr val="dk1"/>
                </a:solidFill>
              </a:rPr>
              <a:t>слабый кандидат - 95%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53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Уровень ‘проще чем на работе’</a:t>
            </a:r>
            <a:endParaRPr b="1"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152475"/>
            <a:ext cx="4261650" cy="360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6925" y="1152475"/>
            <a:ext cx="4791200" cy="392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Вывод для уровня ‘проще чем на работе’</a:t>
            </a:r>
            <a:endParaRPr b="1"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Из дата фрейма видно</a:t>
            </a:r>
            <a:r>
              <a:rPr b="1" lang="ru" sz="1200">
                <a:solidFill>
                  <a:schemeClr val="dk1"/>
                </a:solidFill>
              </a:rPr>
              <a:t>, что минимальное количество вопросов, при котором одновременно выполняются оба условия — прохождение сильным кандидатом с вероятностью 80% и исключение слабого с вероятностью 70%, — составляют 49 вопросов при пороге 48 правильных ответов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Увеличение количества вопросов повышает вероятность исключения слабого кандидата, но одновременно снижает вероятность прохождения сильным. Поэтому такой выбор является наиболее подходящим вариантом, который удовлетворяет требованиям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Уровень ‘сложнее чем на работе’</a:t>
            </a:r>
            <a:endParaRPr b="1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Уровень сложности «сложнее, чем на работе» — в терминах вероятностей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</a:rPr>
              <a:t>Сильный кандидат отвечает правильно на каждый вопрос с вероятностью 0.70;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</a:rPr>
              <a:t>Слабый кандидат отвечает правильно на каждый вопрос с вероятностью 0.20;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ru" sz="1100">
                <a:solidFill>
                  <a:schemeClr val="dk1"/>
                </a:solidFill>
              </a:rPr>
              <a:t>Ответы по разным вопросам считаются независимыми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Условия теста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ru" sz="1200">
                <a:solidFill>
                  <a:schemeClr val="dk1"/>
                </a:solidFill>
              </a:rPr>
              <a:t>Уровень сложности: «как на работе»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ru" sz="1200">
                <a:solidFill>
                  <a:schemeClr val="dk1"/>
                </a:solidFill>
              </a:rPr>
              <a:t>Вероятность правильного ответа на один вопрос: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ru" sz="1200">
                <a:solidFill>
                  <a:schemeClr val="dk1"/>
                </a:solidFill>
              </a:rPr>
              <a:t>сильный кандидат - 70%,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ru" sz="1200">
                <a:solidFill>
                  <a:schemeClr val="dk1"/>
                </a:solidFill>
              </a:rPr>
              <a:t>слабый кандидат - 20%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Уровень ‘сложнее чем на работе’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 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99925"/>
            <a:ext cx="4144851" cy="248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2973" y="1017725"/>
            <a:ext cx="4827475" cy="398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Вывод уровень ‘сложнее чем на работе’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Из дата фрейма видно, что минимальное количество вопросов, при котором одновременно выполняются оба условия — прохождение сильным кандидатом с вероятностью 80% и исключение слабого с вероятностью 70%, — составляют 4 вопроса при пороге 2 правильных ответа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7326" y="2343125"/>
            <a:ext cx="3715476" cy="227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20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Сравнение уровней сложности по ключевым параметрам</a:t>
            </a:r>
            <a:endParaRPr b="1"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1"/>
                </a:solidFill>
              </a:rPr>
              <a:t>Сравнение трех уровней сложности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 sz="1100">
                <a:solidFill>
                  <a:schemeClr val="dk1"/>
                </a:solidFill>
              </a:rPr>
              <a:t>Вероятность прохождения теста сильным кандидатом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ru" sz="1100">
                <a:solidFill>
                  <a:schemeClr val="dk1"/>
                </a:solidFill>
              </a:rPr>
              <a:t>«Проще, чем на работе»: ~89-91%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ru" sz="1100">
                <a:solidFill>
                  <a:schemeClr val="dk1"/>
                </a:solidFill>
              </a:rPr>
              <a:t>«Как на работе»: ~85-92%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ru" sz="1100">
                <a:solidFill>
                  <a:schemeClr val="dk1"/>
                </a:solidFill>
              </a:rPr>
              <a:t>«Сложнее, чем на работе»: ~92-99%      -&gt;  Все уровни удовлетворяют требованию ≥ 80%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 sz="1100">
                <a:solidFill>
                  <a:schemeClr val="dk1"/>
                </a:solidFill>
              </a:rPr>
              <a:t>Вероятность исключения слабого кандидата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ru" sz="1100">
                <a:solidFill>
                  <a:schemeClr val="dk1"/>
                </a:solidFill>
              </a:rPr>
              <a:t>«Проще, чем на работе»: 71–80%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ru" sz="1100">
                <a:solidFill>
                  <a:schemeClr val="dk1"/>
                </a:solidFill>
              </a:rPr>
              <a:t>«Как на работе»: 70–86%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ru" sz="1100">
                <a:solidFill>
                  <a:schemeClr val="dk1"/>
                </a:solidFill>
              </a:rPr>
              <a:t>«Сложнее, чем на работе»: 74-90%  -&gt; Самый высокий уровень отделения слабых - у «сложнее чем на работе»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ru" sz="1100">
                <a:solidFill>
                  <a:schemeClr val="dk1"/>
                </a:solidFill>
              </a:rPr>
              <a:t>Необходимое количество вопросов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ru" sz="1100">
                <a:solidFill>
                  <a:schemeClr val="dk1"/>
                </a:solidFill>
              </a:rPr>
              <a:t>«Проще, чем на работе»: 49 вопросов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ru" sz="1100">
                <a:solidFill>
                  <a:schemeClr val="dk1"/>
                </a:solidFill>
              </a:rPr>
              <a:t>«Как на работе»: 24 вопроса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ru" sz="1100">
                <a:solidFill>
                  <a:schemeClr val="dk1"/>
                </a:solidFill>
              </a:rPr>
              <a:t>«Сложнее, чем на работе»: 4 вопроса -&gt; Минимальный объем теста - у «сложнее чем на работе» (4 вопроса)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Итоговый вывод</a:t>
            </a:r>
            <a:endParaRPr b="1"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С учетом: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ru" sz="1200">
                <a:solidFill>
                  <a:schemeClr val="dk1"/>
                </a:solidFill>
              </a:rPr>
              <a:t>высокой вероятности прохождения сильным кандидатом,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ru" sz="1200">
                <a:solidFill>
                  <a:schemeClr val="dk1"/>
                </a:solidFill>
              </a:rPr>
              <a:t>наилучшей вероятности исключения слабого,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ru" sz="1200">
                <a:solidFill>
                  <a:schemeClr val="dk1"/>
                </a:solidFill>
              </a:rPr>
              <a:t>минимального количества вопросов,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оптимальным уровнем сложности для отбора в компанию является: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Уровень “сложнее, чем на работе”;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Параметры теста: 4 вопроса, проходной порог — 2 правильных ответа.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